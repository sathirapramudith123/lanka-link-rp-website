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aleway Bold" charset="1" panose="00000000000000000000"/>
      <p:regular r:id="rId19"/>
    </p:embeddedFont>
    <p:embeddedFont>
      <p:font typeface="Canva Sans" charset="1" panose="020B0503030501040103"/>
      <p:regular r:id="rId20"/>
    </p:embeddedFont>
    <p:embeddedFont>
      <p:font typeface="Raleway" charset="1" panose="00000000000000000000"/>
      <p:regular r:id="rId21"/>
    </p:embeddedFont>
    <p:embeddedFont>
      <p:font typeface="Lulu Font TH" charset="1" panose="02000503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656" y="-286193"/>
            <a:ext cx="1469112" cy="5804929"/>
            <a:chOff x="0" y="0"/>
            <a:chExt cx="386927" cy="1528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927" cy="1528870"/>
            </a:xfrm>
            <a:custGeom>
              <a:avLst/>
              <a:gdLst/>
              <a:ahLst/>
              <a:cxnLst/>
              <a:rect r="r" b="b" t="t" l="l"/>
              <a:pathLst>
                <a:path h="1528870" w="386927">
                  <a:moveTo>
                    <a:pt x="0" y="0"/>
                  </a:moveTo>
                  <a:lnTo>
                    <a:pt x="386927" y="0"/>
                  </a:lnTo>
                  <a:lnTo>
                    <a:pt x="386927" y="1528870"/>
                  </a:lnTo>
                  <a:lnTo>
                    <a:pt x="0" y="1528870"/>
                  </a:lnTo>
                  <a:close/>
                </a:path>
              </a:pathLst>
            </a:custGeom>
            <a:solidFill>
              <a:srgbClr val="582B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6927" cy="1576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4969" y="6017883"/>
            <a:ext cx="2470786" cy="4531372"/>
            <a:chOff x="0" y="0"/>
            <a:chExt cx="650742" cy="1193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0742" cy="1193448"/>
            </a:xfrm>
            <a:custGeom>
              <a:avLst/>
              <a:gdLst/>
              <a:ahLst/>
              <a:cxnLst/>
              <a:rect r="r" b="b" t="t" l="l"/>
              <a:pathLst>
                <a:path h="1193448" w="650742">
                  <a:moveTo>
                    <a:pt x="0" y="0"/>
                  </a:moveTo>
                  <a:lnTo>
                    <a:pt x="650742" y="0"/>
                  </a:lnTo>
                  <a:lnTo>
                    <a:pt x="650742" y="1193448"/>
                  </a:lnTo>
                  <a:lnTo>
                    <a:pt x="0" y="1193448"/>
                  </a:lnTo>
                  <a:close/>
                </a:path>
              </a:pathLst>
            </a:custGeom>
            <a:solidFill>
              <a:srgbClr val="CA9F7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50742" cy="1241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974977" y="1028700"/>
            <a:ext cx="5811222" cy="3874148"/>
          </a:xfrm>
          <a:custGeom>
            <a:avLst/>
            <a:gdLst/>
            <a:ahLst/>
            <a:cxnLst/>
            <a:rect r="r" b="b" t="t" l="l"/>
            <a:pathLst>
              <a:path h="3874148" w="5811222">
                <a:moveTo>
                  <a:pt x="0" y="0"/>
                </a:moveTo>
                <a:lnTo>
                  <a:pt x="5811222" y="0"/>
                </a:lnTo>
                <a:lnTo>
                  <a:pt x="5811222" y="3874148"/>
                </a:lnTo>
                <a:lnTo>
                  <a:pt x="0" y="3874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93082" y="5564612"/>
            <a:ext cx="14283850" cy="146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5"/>
              </a:lnSpc>
            </a:pPr>
            <a:r>
              <a:rPr lang="en-US" sz="4204" b="true">
                <a:solidFill>
                  <a:srgbClr val="582B0E"/>
                </a:solidFill>
                <a:latin typeface="Raleway Bold"/>
                <a:ea typeface="Raleway Bold"/>
                <a:cs typeface="Raleway Bold"/>
                <a:sym typeface="Raleway Bold"/>
              </a:rPr>
              <a:t>SMART MERCHANT SUPPORT PLATFORM FOR AGENCY BANKING AND PROCUREMENT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71576" y="8398073"/>
            <a:ext cx="218003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82B0E"/>
                </a:solidFill>
                <a:latin typeface="Canva Sans"/>
                <a:ea typeface="Canva Sans"/>
                <a:cs typeface="Canva Sans"/>
                <a:sym typeface="Canva Sans"/>
              </a:rPr>
              <a:t>RIT-26-139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57459" y="-154247"/>
            <a:ext cx="2445353" cy="10627273"/>
            <a:chOff x="0" y="0"/>
            <a:chExt cx="644044" cy="2798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4044" cy="2798952"/>
            </a:xfrm>
            <a:custGeom>
              <a:avLst/>
              <a:gdLst/>
              <a:ahLst/>
              <a:cxnLst/>
              <a:rect r="r" b="b" t="t" l="l"/>
              <a:pathLst>
                <a:path h="2798952" w="644044">
                  <a:moveTo>
                    <a:pt x="0" y="0"/>
                  </a:moveTo>
                  <a:lnTo>
                    <a:pt x="644044" y="0"/>
                  </a:lnTo>
                  <a:lnTo>
                    <a:pt x="644044" y="2798952"/>
                  </a:lnTo>
                  <a:lnTo>
                    <a:pt x="0" y="2798952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4044" cy="2846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5759" y="1543050"/>
            <a:ext cx="16105275" cy="9135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 Sri Lanka, many rural micro-merchants such as grocery shop owners, small retail sellers, and village traders still operate using manual methods.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They record: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sales in notebooks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expenses manually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supplier balances verbally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stock checking by memory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banking transactions by physically visiting banks</a:t>
            </a: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This creates major business problems: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poor financial visibility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frequent stock-outs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eak supplier management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time lost for banking activities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poor procurement decisions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ifficulty proving income to banks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Even though digital banking exists, most small merchants are still disconnected from formal financial systems because existing tools are expensive, internet-dependent, and not designed for rural conditions.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creates a major market gap.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4377" y="177039"/>
            <a:ext cx="6193194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75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10913" y="8920347"/>
            <a:ext cx="3701414" cy="465146"/>
            <a:chOff x="0" y="0"/>
            <a:chExt cx="974858" cy="122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4858" cy="122508"/>
            </a:xfrm>
            <a:custGeom>
              <a:avLst/>
              <a:gdLst/>
              <a:ahLst/>
              <a:cxnLst/>
              <a:rect r="r" b="b" t="t" l="l"/>
              <a:pathLst>
                <a:path h="122508" w="974858">
                  <a:moveTo>
                    <a:pt x="0" y="0"/>
                  </a:moveTo>
                  <a:lnTo>
                    <a:pt x="974858" y="0"/>
                  </a:lnTo>
                  <a:lnTo>
                    <a:pt x="974858" y="122508"/>
                  </a:lnTo>
                  <a:lnTo>
                    <a:pt x="0" y="122508"/>
                  </a:lnTo>
                  <a:close/>
                </a:path>
              </a:pathLst>
            </a:custGeom>
            <a:solidFill>
              <a:srgbClr val="CA9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74858" cy="170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20917" y="414321"/>
            <a:ext cx="11089996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75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Core Research Problem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1999" y="3870511"/>
            <a:ext cx="3897838" cy="4114800"/>
          </a:xfrm>
          <a:custGeom>
            <a:avLst/>
            <a:gdLst/>
            <a:ahLst/>
            <a:cxnLst/>
            <a:rect r="r" b="b" t="t" l="l"/>
            <a:pathLst>
              <a:path h="4114800" w="3897838">
                <a:moveTo>
                  <a:pt x="0" y="0"/>
                </a:moveTo>
                <a:lnTo>
                  <a:pt x="3897837" y="0"/>
                </a:lnTo>
                <a:lnTo>
                  <a:pt x="3897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49842" y="1775676"/>
            <a:ext cx="8561071" cy="7144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6"/>
              </a:lnSpc>
            </a:pPr>
            <a:r>
              <a:rPr lang="en-US" sz="2733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 Statement</a:t>
            </a:r>
          </a:p>
          <a:p>
            <a:pPr algn="l">
              <a:lnSpc>
                <a:spcPts val="3826"/>
              </a:lnSpc>
            </a:pPr>
            <a:r>
              <a:rPr lang="en-US" sz="27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Rural micro-merchants lack an integrated system that supports:</a:t>
            </a:r>
          </a:p>
          <a:p>
            <a:pPr algn="l" marL="590078" indent="-295039" lvl="1">
              <a:lnSpc>
                <a:spcPts val="3826"/>
              </a:lnSpc>
              <a:buFont typeface="Arial"/>
              <a:buChar char="•"/>
            </a:pPr>
            <a:r>
              <a:rPr lang="en-US" sz="27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financial record management</a:t>
            </a:r>
          </a:p>
          <a:p>
            <a:pPr algn="l" marL="590078" indent="-295039" lvl="1">
              <a:lnSpc>
                <a:spcPts val="3826"/>
              </a:lnSpc>
              <a:buFont typeface="Arial"/>
              <a:buChar char="•"/>
            </a:pPr>
            <a:r>
              <a:rPr lang="en-US" sz="27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inventory monitoring</a:t>
            </a:r>
          </a:p>
          <a:p>
            <a:pPr algn="l" marL="590078" indent="-295039" lvl="1">
              <a:lnSpc>
                <a:spcPts val="3826"/>
              </a:lnSpc>
              <a:buFont typeface="Arial"/>
              <a:buChar char="•"/>
            </a:pPr>
            <a:r>
              <a:rPr lang="en-US" sz="27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agency banking operations</a:t>
            </a:r>
          </a:p>
          <a:p>
            <a:pPr algn="l" marL="590078" indent="-295039" lvl="1">
              <a:lnSpc>
                <a:spcPts val="3826"/>
              </a:lnSpc>
              <a:buFont typeface="Arial"/>
              <a:buChar char="•"/>
            </a:pPr>
            <a:r>
              <a:rPr lang="en-US" sz="27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smart procurement decisions</a:t>
            </a:r>
          </a:p>
          <a:p>
            <a:pPr algn="l">
              <a:lnSpc>
                <a:spcPts val="3826"/>
              </a:lnSpc>
            </a:pPr>
            <a:r>
              <a:rPr lang="en-US" sz="27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within low-connectivity environments.</a:t>
            </a:r>
          </a:p>
          <a:p>
            <a:pPr algn="l">
              <a:lnSpc>
                <a:spcPts val="3826"/>
              </a:lnSpc>
            </a:pPr>
          </a:p>
          <a:p>
            <a:pPr algn="l">
              <a:lnSpc>
                <a:spcPts val="3826"/>
              </a:lnSpc>
            </a:pPr>
            <a:r>
              <a:rPr lang="en-US" sz="2733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Because of this:</a:t>
            </a:r>
          </a:p>
          <a:p>
            <a:pPr algn="l" marL="590078" indent="-295039" lvl="1">
              <a:lnSpc>
                <a:spcPts val="3826"/>
              </a:lnSpc>
              <a:buFont typeface="Arial"/>
              <a:buChar char="•"/>
            </a:pPr>
            <a:r>
              <a:rPr lang="en-US" sz="27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business decisions are reactive</a:t>
            </a:r>
          </a:p>
          <a:p>
            <a:pPr algn="l" marL="590078" indent="-295039" lvl="1">
              <a:lnSpc>
                <a:spcPts val="3826"/>
              </a:lnSpc>
              <a:buFont typeface="Arial"/>
              <a:buChar char="•"/>
            </a:pPr>
            <a:r>
              <a:rPr lang="en-US" sz="27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working capital is poorly managed</a:t>
            </a:r>
          </a:p>
          <a:p>
            <a:pPr algn="l" marL="590078" indent="-295039" lvl="1">
              <a:lnSpc>
                <a:spcPts val="3826"/>
              </a:lnSpc>
              <a:buFont typeface="Arial"/>
              <a:buChar char="•"/>
            </a:pPr>
            <a:r>
              <a:rPr lang="en-US" sz="27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profits are reduced</a:t>
            </a:r>
          </a:p>
          <a:p>
            <a:pPr algn="l" marL="590078" indent="-295039" lvl="1">
              <a:lnSpc>
                <a:spcPts val="3826"/>
              </a:lnSpc>
              <a:buFont typeface="Arial"/>
              <a:buChar char="•"/>
            </a:pPr>
            <a:r>
              <a:rPr lang="en-US" sz="27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formal financial access becomes difficult</a:t>
            </a:r>
          </a:p>
          <a:p>
            <a:pPr algn="l">
              <a:lnSpc>
                <a:spcPts val="382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976" y="7215210"/>
            <a:ext cx="2445353" cy="3357983"/>
            <a:chOff x="0" y="0"/>
            <a:chExt cx="644044" cy="8844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4044" cy="884407"/>
            </a:xfrm>
            <a:custGeom>
              <a:avLst/>
              <a:gdLst/>
              <a:ahLst/>
              <a:cxnLst/>
              <a:rect r="r" b="b" t="t" l="l"/>
              <a:pathLst>
                <a:path h="884407" w="644044">
                  <a:moveTo>
                    <a:pt x="0" y="0"/>
                  </a:moveTo>
                  <a:lnTo>
                    <a:pt x="644044" y="0"/>
                  </a:lnTo>
                  <a:lnTo>
                    <a:pt x="644044" y="884407"/>
                  </a:lnTo>
                  <a:lnTo>
                    <a:pt x="0" y="884407"/>
                  </a:lnTo>
                  <a:close/>
                </a:path>
              </a:pathLst>
            </a:custGeom>
            <a:solidFill>
              <a:srgbClr val="CA9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4044" cy="932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65324" y="9080226"/>
            <a:ext cx="1672633" cy="1492966"/>
            <a:chOff x="0" y="0"/>
            <a:chExt cx="440529" cy="3932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0529" cy="393209"/>
            </a:xfrm>
            <a:custGeom>
              <a:avLst/>
              <a:gdLst/>
              <a:ahLst/>
              <a:cxnLst/>
              <a:rect r="r" b="b" t="t" l="l"/>
              <a:pathLst>
                <a:path h="393209" w="440529">
                  <a:moveTo>
                    <a:pt x="0" y="0"/>
                  </a:moveTo>
                  <a:lnTo>
                    <a:pt x="440529" y="0"/>
                  </a:lnTo>
                  <a:lnTo>
                    <a:pt x="440529" y="393209"/>
                  </a:lnTo>
                  <a:lnTo>
                    <a:pt x="0" y="393209"/>
                  </a:lnTo>
                  <a:close/>
                </a:path>
              </a:pathLst>
            </a:custGeom>
            <a:solidFill>
              <a:srgbClr val="582B0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40529" cy="440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001392" y="3086100"/>
            <a:ext cx="3845468" cy="4114800"/>
          </a:xfrm>
          <a:custGeom>
            <a:avLst/>
            <a:gdLst/>
            <a:ahLst/>
            <a:cxnLst/>
            <a:rect r="r" b="b" t="t" l="l"/>
            <a:pathLst>
              <a:path h="4114800" w="3845468">
                <a:moveTo>
                  <a:pt x="0" y="0"/>
                </a:moveTo>
                <a:lnTo>
                  <a:pt x="3845468" y="0"/>
                </a:lnTo>
                <a:lnTo>
                  <a:pt x="3845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26649" y="189460"/>
            <a:ext cx="8631187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75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Proposed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0847" y="1455302"/>
            <a:ext cx="8759234" cy="840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3384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This research proposes:</a:t>
            </a:r>
          </a:p>
          <a:p>
            <a:pPr algn="l">
              <a:lnSpc>
                <a:spcPts val="4737"/>
              </a:lnSpc>
            </a:pPr>
            <a:r>
              <a:rPr lang="en-US" sz="338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 Offline-First Digital Agency Banking and Smart Procurement Support System</a:t>
            </a:r>
          </a:p>
          <a:p>
            <a:pPr algn="l">
              <a:lnSpc>
                <a:spcPts val="4737"/>
              </a:lnSpc>
            </a:pPr>
            <a:r>
              <a:rPr lang="en-US" sz="338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system includes 4 connected components:</a:t>
            </a:r>
          </a:p>
          <a:p>
            <a:pPr algn="l" marL="730612" indent="-365306" lvl="1">
              <a:lnSpc>
                <a:spcPts val="4737"/>
              </a:lnSpc>
              <a:buAutoNum type="arabicPeriod" startAt="1"/>
            </a:pPr>
            <a:r>
              <a:rPr lang="en-US" b="true" sz="33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Digital Financial Ledger</a:t>
            </a:r>
          </a:p>
          <a:p>
            <a:pPr algn="l" marL="730612" indent="-365306" lvl="1">
              <a:lnSpc>
                <a:spcPts val="4737"/>
              </a:lnSpc>
              <a:buAutoNum type="arabicPeriod" startAt="1"/>
            </a:pPr>
            <a:r>
              <a:rPr lang="en-US" b="true" sz="33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Offline Inventory &amp; Supplier Management</a:t>
            </a:r>
          </a:p>
          <a:p>
            <a:pPr algn="l" marL="730612" indent="-365306" lvl="1">
              <a:lnSpc>
                <a:spcPts val="4737"/>
              </a:lnSpc>
              <a:buAutoNum type="arabicPeriod" startAt="1"/>
            </a:pPr>
            <a:r>
              <a:rPr lang="en-US" b="true" sz="33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Simulated Agency Banking Operations</a:t>
            </a:r>
          </a:p>
          <a:p>
            <a:pPr algn="l" marL="730612" indent="-365306" lvl="1">
              <a:lnSpc>
                <a:spcPts val="4737"/>
              </a:lnSpc>
              <a:buAutoNum type="arabicPeriod" startAt="1"/>
            </a:pPr>
            <a:r>
              <a:rPr lang="en-US" b="true" sz="33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Smart Procurement Decision Support</a:t>
            </a:r>
          </a:p>
          <a:p>
            <a:pPr algn="l">
              <a:lnSpc>
                <a:spcPts val="4737"/>
              </a:lnSpc>
            </a:pPr>
            <a:r>
              <a:rPr lang="en-US" sz="338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These modules work together to convert informal merchant activities into a structured digital workflow.</a:t>
            </a:r>
          </a:p>
          <a:p>
            <a:pPr algn="l">
              <a:lnSpc>
                <a:spcPts val="4737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8036" y="200410"/>
            <a:ext cx="14747103" cy="286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4"/>
              </a:lnSpc>
            </a:pPr>
            <a:r>
              <a:rPr lang="en-US" sz="62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Component 1</a:t>
            </a:r>
          </a:p>
          <a:p>
            <a:pPr algn="l">
              <a:lnSpc>
                <a:spcPts val="7564"/>
              </a:lnSpc>
            </a:pPr>
            <a:r>
              <a:rPr lang="en-US" sz="62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Digital Financial Ledger Module</a:t>
            </a:r>
          </a:p>
          <a:p>
            <a:pPr algn="l">
              <a:lnSpc>
                <a:spcPts val="756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08036" y="2173506"/>
            <a:ext cx="11051819" cy="811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3071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Concept</a:t>
            </a:r>
          </a:p>
          <a:p>
            <a:pPr algn="l">
              <a:lnSpc>
                <a:spcPts val="4159"/>
              </a:lnSpc>
            </a:pPr>
            <a:r>
              <a:rPr lang="en-US" sz="297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module records:</a:t>
            </a:r>
          </a:p>
          <a:p>
            <a:pPr algn="l" marL="663050" indent="-331525" lvl="1">
              <a:lnSpc>
                <a:spcPts val="4299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cash sales</a:t>
            </a:r>
          </a:p>
          <a:p>
            <a:pPr algn="l" marL="663050" indent="-331525" lvl="1">
              <a:lnSpc>
                <a:spcPts val="4299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digital payments</a:t>
            </a:r>
          </a:p>
          <a:p>
            <a:pPr algn="l" marL="663050" indent="-331525" lvl="1">
              <a:lnSpc>
                <a:spcPts val="4299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expenses</a:t>
            </a:r>
          </a:p>
          <a:p>
            <a:pPr algn="l" marL="663050" indent="-331525" lvl="1">
              <a:lnSpc>
                <a:spcPts val="4299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supplier payments</a:t>
            </a:r>
          </a:p>
          <a:p>
            <a:pPr algn="l" marL="663050" indent="-331525" lvl="1">
              <a:lnSpc>
                <a:spcPts val="4299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agency banking transactions</a:t>
            </a:r>
          </a:p>
          <a:p>
            <a:pPr algn="l">
              <a:lnSpc>
                <a:spcPts val="4299"/>
              </a:lnSpc>
            </a:pPr>
            <a:r>
              <a:rPr lang="en-US" sz="307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Everything is stored in one unified digital ledger.</a:t>
            </a:r>
          </a:p>
          <a:p>
            <a:pPr algn="l">
              <a:lnSpc>
                <a:spcPts val="4299"/>
              </a:lnSpc>
            </a:pPr>
          </a:p>
          <a:p>
            <a:pPr algn="l">
              <a:lnSpc>
                <a:spcPts val="4299"/>
              </a:lnSpc>
            </a:pPr>
            <a:r>
              <a:rPr lang="en-US" sz="3071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Gap Solved</a:t>
            </a:r>
          </a:p>
          <a:p>
            <a:pPr algn="l" marL="663050" indent="-331525" lvl="1">
              <a:lnSpc>
                <a:spcPts val="4299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Credit Invisibility Gap</a:t>
            </a:r>
          </a:p>
          <a:p>
            <a:pPr algn="l" marL="663050" indent="-331525" lvl="1">
              <a:lnSpc>
                <a:spcPts val="4299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Merchants cannot prove their income because records are manual and fragmented.</a:t>
            </a:r>
          </a:p>
          <a:p>
            <a:pPr algn="l" marL="663050" indent="-331525" lvl="1">
              <a:lnSpc>
                <a:spcPts val="4299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Banks cannot verify their real financial activity.</a:t>
            </a:r>
          </a:p>
          <a:p>
            <a:pPr algn="l">
              <a:lnSpc>
                <a:spcPts val="42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59856" y="3990976"/>
            <a:ext cx="4526280" cy="4114800"/>
          </a:xfrm>
          <a:custGeom>
            <a:avLst/>
            <a:gdLst/>
            <a:ahLst/>
            <a:cxnLst/>
            <a:rect r="r" b="b" t="t" l="l"/>
            <a:pathLst>
              <a:path h="4114800" w="4526280">
                <a:moveTo>
                  <a:pt x="0" y="0"/>
                </a:moveTo>
                <a:lnTo>
                  <a:pt x="4526280" y="0"/>
                </a:lnTo>
                <a:lnTo>
                  <a:pt x="45262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71175" y="9000498"/>
            <a:ext cx="6188125" cy="72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4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Lulu Font TH"/>
                <a:ea typeface="Lulu Font TH"/>
                <a:cs typeface="Lulu Font TH"/>
                <a:sym typeface="Lulu Font TH"/>
              </a:rPr>
              <a:t>IT22266682 - Aponsu P.S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22634" y="403653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8036" y="190885"/>
            <a:ext cx="15429397" cy="349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75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Component 1</a:t>
            </a:r>
          </a:p>
          <a:p>
            <a:pPr algn="l">
              <a:lnSpc>
                <a:spcPts val="9150"/>
              </a:lnSpc>
            </a:pPr>
            <a:r>
              <a:rPr lang="en-US" sz="75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Digital Financial Ledger Module</a:t>
            </a:r>
          </a:p>
          <a:p>
            <a:pPr algn="l">
              <a:lnSpc>
                <a:spcPts val="91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91789"/>
            <a:ext cx="10601554" cy="852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037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Solution</a:t>
            </a:r>
          </a:p>
          <a:p>
            <a:pPr algn="l">
              <a:lnSpc>
                <a:spcPts val="4252"/>
              </a:lnSpc>
            </a:pP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system creates:</a:t>
            </a:r>
          </a:p>
          <a:p>
            <a:pPr algn="l" marL="655743" indent="-327871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ransaction transparency</a:t>
            </a:r>
          </a:p>
          <a:p>
            <a:pPr algn="l" marL="655743" indent="-327871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monthly reports</a:t>
            </a:r>
          </a:p>
          <a:p>
            <a:pPr algn="l" marL="655743" indent="-327871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formal financial history</a:t>
            </a:r>
          </a:p>
          <a:p>
            <a:pPr algn="l">
              <a:lnSpc>
                <a:spcPts val="4252"/>
              </a:lnSpc>
            </a:pP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his supports financial trust and business visibility.</a:t>
            </a:r>
          </a:p>
          <a:p>
            <a:pPr algn="l">
              <a:lnSpc>
                <a:spcPts val="4252"/>
              </a:lnSpc>
            </a:pPr>
          </a:p>
          <a:p>
            <a:pPr algn="l">
              <a:lnSpc>
                <a:spcPts val="4252"/>
              </a:lnSpc>
            </a:pPr>
            <a:r>
              <a:rPr lang="en-US" sz="3037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Novelty</a:t>
            </a:r>
          </a:p>
          <a:p>
            <a:pPr algn="l" marL="655743" indent="-327871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Unified Informal-to-Formal Financial Transformation</a:t>
            </a:r>
          </a:p>
          <a:p>
            <a:pPr algn="l" marL="655743" indent="-327871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module converts informal handwritten records into structured digital financial proof.</a:t>
            </a:r>
          </a:p>
          <a:p>
            <a:pPr algn="l" marL="655743" indent="-327871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helps rural merchants become financially visible to formal institutions.</a:t>
            </a:r>
          </a:p>
          <a:p>
            <a:pPr algn="l" marL="655743" indent="-327871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is stronger than simple bookkeeping.</a:t>
            </a:r>
          </a:p>
          <a:p>
            <a:pPr algn="l">
              <a:lnSpc>
                <a:spcPts val="4252"/>
              </a:lnSpc>
            </a:pPr>
          </a:p>
          <a:p>
            <a:pPr algn="l">
              <a:lnSpc>
                <a:spcPts val="425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071175" y="9000498"/>
            <a:ext cx="6188125" cy="72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4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Lulu Font TH"/>
                <a:ea typeface="Lulu Font TH"/>
                <a:cs typeface="Lulu Font TH"/>
                <a:sym typeface="Lulu Font TH"/>
              </a:rPr>
              <a:t>IT22266682 - Aponsu P.S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8036" y="-19050"/>
            <a:ext cx="15278228" cy="285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57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Component 2</a:t>
            </a:r>
          </a:p>
          <a:p>
            <a:pPr algn="l">
              <a:lnSpc>
                <a:spcPts val="6954"/>
              </a:lnSpc>
            </a:pPr>
            <a:r>
              <a:rPr lang="en-US" sz="57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Inventory and Supplier Management Module</a:t>
            </a:r>
          </a:p>
          <a:p>
            <a:pPr algn="l">
              <a:lnSpc>
                <a:spcPts val="866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08036" y="1886288"/>
            <a:ext cx="13172654" cy="8736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sz="2926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Concept</a:t>
            </a:r>
          </a:p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module manages:</a:t>
            </a:r>
          </a:p>
          <a:p>
            <a:pPr algn="l" marL="631899" indent="-315950" lvl="1">
              <a:lnSpc>
                <a:spcPts val="4097"/>
              </a:lnSpc>
              <a:buFont typeface="Arial"/>
              <a:buChar char="•"/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stock levels</a:t>
            </a:r>
          </a:p>
          <a:p>
            <a:pPr algn="l" marL="631899" indent="-315950" lvl="1">
              <a:lnSpc>
                <a:spcPts val="4097"/>
              </a:lnSpc>
              <a:buFont typeface="Arial"/>
              <a:buChar char="•"/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reorder alerts</a:t>
            </a:r>
          </a:p>
          <a:p>
            <a:pPr algn="l" marL="631899" indent="-315950" lvl="1">
              <a:lnSpc>
                <a:spcPts val="4097"/>
              </a:lnSpc>
              <a:buFont typeface="Arial"/>
              <a:buChar char="•"/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supp</a:t>
            </a: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lier records</a:t>
            </a:r>
          </a:p>
          <a:p>
            <a:pPr algn="l" marL="631899" indent="-315950" lvl="1">
              <a:lnSpc>
                <a:spcPts val="4097"/>
              </a:lnSpc>
              <a:buFont typeface="Arial"/>
              <a:buChar char="•"/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supplier balances</a:t>
            </a:r>
          </a:p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using an offline-first system.</a:t>
            </a:r>
          </a:p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 works even without a stable internet.</a:t>
            </a:r>
          </a:p>
          <a:p>
            <a:pPr algn="l">
              <a:lnSpc>
                <a:spcPts val="4097"/>
              </a:lnSpc>
            </a:pPr>
          </a:p>
          <a:p>
            <a:pPr algn="l">
              <a:lnSpc>
                <a:spcPts val="4097"/>
              </a:lnSpc>
            </a:pPr>
            <a:r>
              <a:rPr lang="en-US" sz="2926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Gap</a:t>
            </a:r>
            <a:r>
              <a:rPr lang="en-US" sz="2926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Solved</a:t>
            </a:r>
          </a:p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Stock-Out Blindness Gap</a:t>
            </a:r>
          </a:p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Merchants only realize stock shortages after customers ask for products.</a:t>
            </a:r>
          </a:p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causes:</a:t>
            </a:r>
          </a:p>
          <a:p>
            <a:pPr algn="l" marL="631899" indent="-315950" lvl="1">
              <a:lnSpc>
                <a:spcPts val="4097"/>
              </a:lnSpc>
              <a:buFont typeface="Arial"/>
              <a:buChar char="•"/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lost sales</a:t>
            </a:r>
          </a:p>
          <a:p>
            <a:pPr algn="l" marL="631899" indent="-315950" lvl="1">
              <a:lnSpc>
                <a:spcPts val="4097"/>
              </a:lnSpc>
              <a:buFont typeface="Arial"/>
              <a:buChar char="•"/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customer dissatisfaction</a:t>
            </a:r>
          </a:p>
          <a:p>
            <a:pPr algn="l" marL="631899" indent="-315950" lvl="1">
              <a:lnSpc>
                <a:spcPts val="4097"/>
              </a:lnSpc>
              <a:buFont typeface="Arial"/>
              <a:buChar char="•"/>
            </a:pPr>
            <a:r>
              <a:rPr lang="en-US" sz="29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supplier disputes</a:t>
            </a:r>
          </a:p>
          <a:p>
            <a:pPr algn="l">
              <a:lnSpc>
                <a:spcPts val="409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00272" y="3686843"/>
            <a:ext cx="3127248" cy="4114800"/>
          </a:xfrm>
          <a:custGeom>
            <a:avLst/>
            <a:gdLst/>
            <a:ahLst/>
            <a:cxnLst/>
            <a:rect r="r" b="b" t="t" l="l"/>
            <a:pathLst>
              <a:path h="4114800" w="3127248">
                <a:moveTo>
                  <a:pt x="0" y="0"/>
                </a:moveTo>
                <a:lnTo>
                  <a:pt x="3127248" y="0"/>
                </a:lnTo>
                <a:lnTo>
                  <a:pt x="31272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43046" y="9000498"/>
            <a:ext cx="7444383" cy="72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4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Lulu Font TH"/>
                <a:ea typeface="Lulu Font TH"/>
                <a:cs typeface="Lulu Font TH"/>
                <a:sym typeface="Lulu Font TH"/>
              </a:rPr>
              <a:t>IT22152978 - Pramudith K.G.S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8036" y="200410"/>
            <a:ext cx="15082551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57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Component 2</a:t>
            </a:r>
          </a:p>
          <a:p>
            <a:pPr algn="l">
              <a:lnSpc>
                <a:spcPts val="6954"/>
              </a:lnSpc>
            </a:pPr>
            <a:r>
              <a:rPr lang="en-US" sz="57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Inventory and Supplier Management Module</a:t>
            </a:r>
          </a:p>
          <a:p>
            <a:pPr algn="l">
              <a:lnSpc>
                <a:spcPts val="6954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69750" y="3617225"/>
            <a:ext cx="4288806" cy="4114800"/>
          </a:xfrm>
          <a:custGeom>
            <a:avLst/>
            <a:gdLst/>
            <a:ahLst/>
            <a:cxnLst/>
            <a:rect r="r" b="b" t="t" l="l"/>
            <a:pathLst>
              <a:path h="4114800" w="4288806">
                <a:moveTo>
                  <a:pt x="0" y="0"/>
                </a:moveTo>
                <a:lnTo>
                  <a:pt x="4288806" y="0"/>
                </a:lnTo>
                <a:lnTo>
                  <a:pt x="42888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4577" y="2366746"/>
            <a:ext cx="9893199" cy="792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2803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Solution</a:t>
            </a:r>
          </a:p>
          <a:p>
            <a:pPr algn="l">
              <a:lnSpc>
                <a:spcPts val="3925"/>
              </a:lnSpc>
            </a:pPr>
            <a:r>
              <a:rPr lang="en-US" sz="28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system provides:</a:t>
            </a:r>
          </a:p>
          <a:p>
            <a:pPr algn="l" marL="605379" indent="-302690" lvl="1">
              <a:lnSpc>
                <a:spcPts val="3925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low-stock alerts</a:t>
            </a:r>
          </a:p>
          <a:p>
            <a:pPr algn="l" marL="605379" indent="-302690" lvl="1">
              <a:lnSpc>
                <a:spcPts val="3925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reorder notifications</a:t>
            </a:r>
          </a:p>
          <a:p>
            <a:pPr algn="l" marL="605379" indent="-302690" lvl="1">
              <a:lnSpc>
                <a:spcPts val="3925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supplier tracking</a:t>
            </a:r>
          </a:p>
          <a:p>
            <a:pPr algn="l" marL="605379" indent="-302690" lvl="1">
              <a:lnSpc>
                <a:spcPts val="3925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digital supplier history</a:t>
            </a:r>
          </a:p>
          <a:p>
            <a:pPr algn="l">
              <a:lnSpc>
                <a:spcPts val="3925"/>
              </a:lnSpc>
            </a:pPr>
            <a:r>
              <a:rPr lang="en-US" sz="28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prevents reactive stock management.</a:t>
            </a:r>
          </a:p>
          <a:p>
            <a:pPr algn="l">
              <a:lnSpc>
                <a:spcPts val="3925"/>
              </a:lnSpc>
            </a:pPr>
          </a:p>
          <a:p>
            <a:pPr algn="l">
              <a:lnSpc>
                <a:spcPts val="3925"/>
              </a:lnSpc>
            </a:pPr>
            <a:r>
              <a:rPr lang="en-US" sz="2803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Novelty</a:t>
            </a:r>
          </a:p>
          <a:p>
            <a:pPr algn="l">
              <a:lnSpc>
                <a:spcPts val="3925"/>
              </a:lnSpc>
            </a:pPr>
            <a:r>
              <a:rPr lang="en-US" sz="2803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Offline-First Architecture for Rural Business Environments</a:t>
            </a:r>
          </a:p>
          <a:p>
            <a:pPr algn="l" marL="605379" indent="-302690" lvl="1">
              <a:lnSpc>
                <a:spcPts val="3925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Most inventory systems depend on a constant internet.</a:t>
            </a:r>
          </a:p>
          <a:p>
            <a:pPr algn="l" marL="605379" indent="-302690" lvl="1">
              <a:lnSpc>
                <a:spcPts val="3925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research is specifically designed for rural Sri Lankan merchants, where the internet is unstable.</a:t>
            </a:r>
          </a:p>
          <a:p>
            <a:pPr algn="l" marL="605379" indent="-302690" lvl="1">
              <a:lnSpc>
                <a:spcPts val="3925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increases real-world usability.</a:t>
            </a:r>
          </a:p>
          <a:p>
            <a:pPr algn="l">
              <a:lnSpc>
                <a:spcPts val="3925"/>
              </a:lnSpc>
            </a:pPr>
          </a:p>
          <a:p>
            <a:pPr algn="l">
              <a:lnSpc>
                <a:spcPts val="392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443046" y="9000498"/>
            <a:ext cx="7444383" cy="72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4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Lulu Font TH"/>
                <a:ea typeface="Lulu Font TH"/>
                <a:cs typeface="Lulu Font TH"/>
                <a:sym typeface="Lulu Font TH"/>
              </a:rPr>
              <a:t>IT22152978 - Pramudith K.G.S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8036" y="200410"/>
            <a:ext cx="15082551" cy="264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59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Component 3</a:t>
            </a:r>
          </a:p>
          <a:p>
            <a:pPr algn="l">
              <a:lnSpc>
                <a:spcPts val="6588"/>
              </a:lnSpc>
            </a:pPr>
            <a:r>
              <a:rPr lang="en-US" sz="54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54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imulated Agency Banking Operations Module</a:t>
            </a:r>
          </a:p>
          <a:p>
            <a:pPr algn="l">
              <a:lnSpc>
                <a:spcPts val="719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91917"/>
            <a:ext cx="10271973" cy="951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Concept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merchant acts as a l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ocal banking agent (simulation only).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They handle: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customer deposit requests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transaction 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recording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service commission tracking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digital workflow simulation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 real banking API integration is required.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is prototype-based validation.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Gap Solved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Acce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ss Gap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rural 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areas: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tomers travel long d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for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rcha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nts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lose time visiting banks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financial services are not easily accessible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reduces productivity.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48167" y="3424093"/>
            <a:ext cx="4270075" cy="4114800"/>
          </a:xfrm>
          <a:custGeom>
            <a:avLst/>
            <a:gdLst/>
            <a:ahLst/>
            <a:cxnLst/>
            <a:rect r="r" b="b" t="t" l="l"/>
            <a:pathLst>
              <a:path h="4114800" w="4270075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6668" y="9000498"/>
            <a:ext cx="7837140" cy="72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4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Lulu Font TH"/>
                <a:ea typeface="Lulu Font TH"/>
                <a:cs typeface="Lulu Font TH"/>
                <a:sym typeface="Lulu Font TH"/>
              </a:rPr>
              <a:t>IT22050212 - Karunaweera L.M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8036" y="200410"/>
            <a:ext cx="15082551" cy="249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8"/>
              </a:lnSpc>
            </a:pPr>
            <a:r>
              <a:rPr lang="en-US" sz="54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Component 3</a:t>
            </a:r>
          </a:p>
          <a:p>
            <a:pPr algn="l">
              <a:lnSpc>
                <a:spcPts val="6588"/>
              </a:lnSpc>
            </a:pPr>
            <a:r>
              <a:rPr lang="en-US" sz="54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54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imulated Agency Banking Operations Module</a:t>
            </a:r>
          </a:p>
          <a:p>
            <a:pPr algn="l">
              <a:lnSpc>
                <a:spcPts val="6588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25486" y="3424093"/>
            <a:ext cx="5971346" cy="4114800"/>
          </a:xfrm>
          <a:custGeom>
            <a:avLst/>
            <a:gdLst/>
            <a:ahLst/>
            <a:cxnLst/>
            <a:rect r="r" b="b" t="t" l="l"/>
            <a:pathLst>
              <a:path h="4114800" w="5971346">
                <a:moveTo>
                  <a:pt x="0" y="0"/>
                </a:moveTo>
                <a:lnTo>
                  <a:pt x="5971346" y="0"/>
                </a:lnTo>
                <a:lnTo>
                  <a:pt x="59713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8036" y="1886288"/>
            <a:ext cx="10663329" cy="891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</a:t>
            </a:r>
            <a:r>
              <a:rPr lang="en-US" sz="27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</a:t>
            </a:r>
            <a:r>
              <a:rPr lang="en-US" sz="27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ution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system simul</a:t>
            </a: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</a:t>
            </a: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 merchants becoming: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ocal Banking Touchpoints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improves: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</a:t>
            </a: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venience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ran</a:t>
            </a: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saction </a:t>
            </a: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ef</a:t>
            </a: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</a:t>
            </a: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ciency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financial accessibility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Novelty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Agency Banking Integrated with Daily Merchant Operations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Most systems treat banking and shop operations separately.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research combines both.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merchant becomes both: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retailer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financial service point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is a strong innovation.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46668" y="9000498"/>
            <a:ext cx="7837140" cy="72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4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Lulu Font TH"/>
                <a:ea typeface="Lulu Font TH"/>
                <a:cs typeface="Lulu Font TH"/>
                <a:sym typeface="Lulu Font TH"/>
              </a:rPr>
              <a:t>IT22050212 - Karunaweera L.M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8036" y="200410"/>
            <a:ext cx="16651264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57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Component 4</a:t>
            </a:r>
          </a:p>
          <a:p>
            <a:pPr algn="l">
              <a:lnSpc>
                <a:spcPts val="6954"/>
              </a:lnSpc>
            </a:pPr>
            <a:r>
              <a:rPr lang="en-US" sz="57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57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mart Procurement Decision Support Module</a:t>
            </a:r>
          </a:p>
          <a:p>
            <a:pPr algn="l">
              <a:lnSpc>
                <a:spcPts val="6954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75787" y="34240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88755"/>
            <a:ext cx="10048482" cy="808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705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Concept</a:t>
            </a:r>
          </a:p>
          <a:p>
            <a:pPr algn="l">
              <a:lnSpc>
                <a:spcPts val="3787"/>
              </a:lnSpc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module helps merchants decide:</a:t>
            </a:r>
          </a:p>
          <a:p>
            <a:pPr algn="l" marL="584153" indent="-292076" lvl="1">
              <a:lnSpc>
                <a:spcPts val="3787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When to reorder</a:t>
            </a:r>
          </a:p>
          <a:p>
            <a:pPr algn="l" marL="584153" indent="-292076" lvl="1">
              <a:lnSpc>
                <a:spcPts val="3787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hich supplier to choose</a:t>
            </a:r>
          </a:p>
          <a:p>
            <a:pPr algn="l" marL="584153" indent="-292076" lvl="1">
              <a:lnSpc>
                <a:spcPts val="3787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hen prices are favorable</a:t>
            </a:r>
          </a:p>
          <a:p>
            <a:pPr algn="l" marL="584153" indent="-292076" lvl="1">
              <a:lnSpc>
                <a:spcPts val="3787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ow to r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educe pro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cur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em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 costs</a:t>
            </a:r>
          </a:p>
          <a:p>
            <a:pPr algn="l">
              <a:lnSpc>
                <a:spcPts val="3787"/>
              </a:lnSpc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 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acts as a decision support system.</a:t>
            </a:r>
          </a:p>
          <a:p>
            <a:pPr algn="l">
              <a:lnSpc>
                <a:spcPts val="3787"/>
              </a:lnSpc>
            </a:pPr>
          </a:p>
          <a:p>
            <a:pPr algn="l">
              <a:lnSpc>
                <a:spcPts val="3787"/>
              </a:lnSpc>
            </a:pPr>
            <a:r>
              <a:rPr lang="en-US" sz="2705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Gap S</a:t>
            </a:r>
            <a:r>
              <a:rPr lang="en-US" sz="2705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olved</a:t>
            </a:r>
          </a:p>
          <a:p>
            <a:pPr algn="l">
              <a:lnSpc>
                <a:spcPts val="3787"/>
              </a:lnSpc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Procurem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 Inefficiency Gap</a:t>
            </a:r>
          </a:p>
          <a:p>
            <a:pPr algn="l">
              <a:lnSpc>
                <a:spcPts val="3787"/>
              </a:lnSpc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Most merchants buy stock based on urgency or habit.</a:t>
            </a:r>
          </a:p>
          <a:p>
            <a:pPr algn="l">
              <a:lnSpc>
                <a:spcPts val="3787"/>
              </a:lnSpc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causes:</a:t>
            </a:r>
          </a:p>
          <a:p>
            <a:pPr algn="l" marL="584153" indent="-292076" lvl="1">
              <a:lnSpc>
                <a:spcPts val="3787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lat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purchasing</a:t>
            </a:r>
          </a:p>
          <a:p>
            <a:pPr algn="l" marL="584153" indent="-292076" lvl="1">
              <a:lnSpc>
                <a:spcPts val="3787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high prices</a:t>
            </a:r>
          </a:p>
          <a:p>
            <a:pPr algn="l" marL="584153" indent="-292076" lvl="1">
              <a:lnSpc>
                <a:spcPts val="3787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</a:t>
            </a: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reliable suppliers</a:t>
            </a:r>
          </a:p>
          <a:p>
            <a:pPr algn="l" marL="584153" indent="-292076" lvl="1">
              <a:lnSpc>
                <a:spcPts val="3787"/>
              </a:lnSpc>
              <a:buFont typeface="Arial"/>
              <a:buChar char="•"/>
            </a:pPr>
            <a:r>
              <a:rPr lang="en-US" sz="270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reduced profits</a:t>
            </a:r>
          </a:p>
          <a:p>
            <a:pPr algn="l">
              <a:lnSpc>
                <a:spcPts val="378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500643" y="9000498"/>
            <a:ext cx="7329190" cy="72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4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Lulu Font TH"/>
                <a:ea typeface="Lulu Font TH"/>
                <a:cs typeface="Lulu Font TH"/>
                <a:sym typeface="Lulu Font TH"/>
              </a:rPr>
              <a:t>IT22268730 - Ruwani P.A.M.J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8036" y="190885"/>
            <a:ext cx="15082551" cy="255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55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Component 4</a:t>
            </a:r>
          </a:p>
          <a:p>
            <a:pPr algn="l">
              <a:lnSpc>
                <a:spcPts val="6710"/>
              </a:lnSpc>
            </a:pPr>
            <a:r>
              <a:rPr lang="en-US" sz="55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55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mart Procurement Decision Support Module</a:t>
            </a:r>
          </a:p>
          <a:p>
            <a:pPr algn="l">
              <a:lnSpc>
                <a:spcPts val="671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08036" y="2136821"/>
            <a:ext cx="12355247" cy="712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376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Solution</a:t>
            </a:r>
          </a:p>
          <a:p>
            <a:pPr algn="l">
              <a:lnSpc>
                <a:spcPts val="3327"/>
              </a:lnSpc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system compares:</a:t>
            </a:r>
          </a:p>
          <a:p>
            <a:pPr algn="l" marL="513152" indent="-256576" lvl="1">
              <a:lnSpc>
                <a:spcPts val="3327"/>
              </a:lnSpc>
              <a:buFont typeface="Arial"/>
              <a:buChar char="•"/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supplier price</a:t>
            </a:r>
          </a:p>
          <a:p>
            <a:pPr algn="l" marL="513152" indent="-256576" lvl="1">
              <a:lnSpc>
                <a:spcPts val="3327"/>
              </a:lnSpc>
              <a:buFont typeface="Arial"/>
              <a:buChar char="•"/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delivery speed</a:t>
            </a:r>
          </a:p>
          <a:p>
            <a:pPr algn="l" marL="513152" indent="-256576" lvl="1">
              <a:lnSpc>
                <a:spcPts val="3327"/>
              </a:lnSpc>
              <a:buFont typeface="Arial"/>
              <a:buChar char="•"/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reliability</a:t>
            </a:r>
          </a:p>
          <a:p>
            <a:pPr algn="l" marL="513152" indent="-256576" lvl="1">
              <a:lnSpc>
                <a:spcPts val="3327"/>
              </a:lnSpc>
              <a:buFont typeface="Arial"/>
              <a:buChar char="•"/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market opportunities</a:t>
            </a:r>
          </a:p>
          <a:p>
            <a:pPr algn="l">
              <a:lnSpc>
                <a:spcPts val="3327"/>
              </a:lnSpc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and recommends the best decision.</a:t>
            </a:r>
          </a:p>
          <a:p>
            <a:pPr algn="l">
              <a:lnSpc>
                <a:spcPts val="3327"/>
              </a:lnSpc>
            </a:pPr>
          </a:p>
          <a:p>
            <a:pPr algn="l">
              <a:lnSpc>
                <a:spcPts val="3327"/>
              </a:lnSpc>
            </a:pPr>
            <a:r>
              <a:rPr lang="en-US" sz="2376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</a:t>
            </a:r>
            <a:r>
              <a:rPr lang="en-US" sz="2376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ovelty</a:t>
            </a:r>
          </a:p>
          <a:p>
            <a:pPr algn="l">
              <a:lnSpc>
                <a:spcPts val="3327"/>
              </a:lnSpc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Rule-Based Smart Procurem</a:t>
            </a: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 Without Machine Learning</a:t>
            </a:r>
          </a:p>
          <a:p>
            <a:pPr algn="l">
              <a:lnSpc>
                <a:spcPts val="3327"/>
              </a:lnSpc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stead of using complex AI models,</a:t>
            </a:r>
          </a:p>
          <a:p>
            <a:pPr algn="l">
              <a:lnSpc>
                <a:spcPts val="3327"/>
              </a:lnSpc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system uses:</a:t>
            </a:r>
          </a:p>
          <a:p>
            <a:pPr algn="l" marL="513152" indent="-256576" lvl="1">
              <a:lnSpc>
                <a:spcPts val="3327"/>
              </a:lnSpc>
              <a:buFont typeface="Arial"/>
              <a:buChar char="•"/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suppli</a:t>
            </a: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er scoring</a:t>
            </a:r>
          </a:p>
          <a:p>
            <a:pPr algn="l" marL="513152" indent="-256576" lvl="1">
              <a:lnSpc>
                <a:spcPts val="3327"/>
              </a:lnSpc>
              <a:buFont typeface="Arial"/>
              <a:buChar char="•"/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reorder rules</a:t>
            </a:r>
          </a:p>
          <a:p>
            <a:pPr algn="l" marL="513152" indent="-256576" lvl="1">
              <a:lnSpc>
                <a:spcPts val="3327"/>
              </a:lnSpc>
              <a:buFont typeface="Arial"/>
              <a:buChar char="•"/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price opport</a:t>
            </a: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unity logic</a:t>
            </a:r>
          </a:p>
          <a:p>
            <a:pPr algn="l">
              <a:lnSpc>
                <a:spcPts val="3327"/>
              </a:lnSpc>
            </a:pP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c</a:t>
            </a:r>
            <a:r>
              <a:rPr lang="en-US" sz="237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reates explainable and practical intelligence that is easier to validate academically.</a:t>
            </a:r>
          </a:p>
          <a:p>
            <a:pPr algn="l">
              <a:lnSpc>
                <a:spcPts val="332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341943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67024" y="8892794"/>
            <a:ext cx="7664637" cy="72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4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Lulu Font TH"/>
                <a:ea typeface="Lulu Font TH"/>
                <a:cs typeface="Lulu Font TH"/>
                <a:sym typeface="Lulu Font TH"/>
              </a:rPr>
              <a:t>IT22268730 - Ruwani P.A.M.J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358556" y="0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3"/>
                </a:lnTo>
                <a:lnTo>
                  <a:pt x="0" y="195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8556" y="52219"/>
            <a:ext cx="2929444" cy="1952963"/>
          </a:xfrm>
          <a:custGeom>
            <a:avLst/>
            <a:gdLst/>
            <a:ahLst/>
            <a:cxnLst/>
            <a:rect r="r" b="b" t="t" l="l"/>
            <a:pathLst>
              <a:path h="1952963" w="2929444">
                <a:moveTo>
                  <a:pt x="0" y="0"/>
                </a:moveTo>
                <a:lnTo>
                  <a:pt x="2929444" y="0"/>
                </a:lnTo>
                <a:lnTo>
                  <a:pt x="2929444" y="1952962"/>
                </a:lnTo>
                <a:lnTo>
                  <a:pt x="0" y="1952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5285" y="2005181"/>
            <a:ext cx="12201944" cy="6807668"/>
          </a:xfrm>
          <a:custGeom>
            <a:avLst/>
            <a:gdLst/>
            <a:ahLst/>
            <a:cxnLst/>
            <a:rect r="r" b="b" t="t" l="l"/>
            <a:pathLst>
              <a:path h="6807668" w="12201944">
                <a:moveTo>
                  <a:pt x="0" y="0"/>
                </a:moveTo>
                <a:lnTo>
                  <a:pt x="12201944" y="0"/>
                </a:lnTo>
                <a:lnTo>
                  <a:pt x="12201944" y="6807668"/>
                </a:lnTo>
                <a:lnTo>
                  <a:pt x="0" y="6807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6152" y="428625"/>
            <a:ext cx="978098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7500">
                <a:solidFill>
                  <a:srgbClr val="582B0E"/>
                </a:solidFill>
                <a:latin typeface="Raleway"/>
                <a:ea typeface="Raleway"/>
                <a:cs typeface="Raleway"/>
                <a:sym typeface="Raleway"/>
              </a:rPr>
              <a:t>Full System Workflow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89963" y="9207861"/>
            <a:ext cx="3605510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0"/>
              </a:lnSpc>
              <a:spcBef>
                <a:spcPct val="0"/>
              </a:spcBef>
            </a:pPr>
            <a:r>
              <a:rPr lang="en-US" b="true" sz="5500">
                <a:solidFill>
                  <a:srgbClr val="11171D"/>
                </a:solidFill>
                <a:latin typeface="Raleway Bold"/>
                <a:ea typeface="Raleway Bold"/>
                <a:cs typeface="Raleway Bold"/>
                <a:sym typeface="Raleway Bold"/>
              </a:rPr>
              <a:t>RIT-26-139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DAHJazIK4I4</dc:identifier>
  <dcterms:modified xsi:type="dcterms:W3CDTF">2011-08-01T06:04:30Z</dcterms:modified>
  <cp:revision>1</cp:revision>
  <dc:title>Brown and Red Minimalist Modern Project Report Presentation </dc:title>
</cp:coreProperties>
</file>