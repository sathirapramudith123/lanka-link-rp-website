
<file path=[Content_Types].xml><?xml version="1.0" encoding="utf-8"?>
<Types xmlns="http://schemas.openxmlformats.org/package/2006/content-types">
  <Default Extension="jpg" ContentType="image/jpe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Urbanist SemiBold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B61D85-14DE-47D0-BD61-A66EE1B4D6DD}">
  <a:tblStyle styleId="{AAB61D85-14DE-47D0-BD61-A66EE1B4D6D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UrbanistSemiBold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boldItalic.fntdata"/><Relationship Id="rId30" Type="http://schemas.openxmlformats.org/officeDocument/2006/relationships/font" Target="fonts/UrbanistSemiBold-italic.fntdata"/><Relationship Id="rId11" Type="http://schemas.openxmlformats.org/officeDocument/2006/relationships/slide" Target="slides/slide5.xml"/><Relationship Id="rId33" Type="http://schemas.openxmlformats.org/officeDocument/2006/relationships/font" Target="fonts/Urbanist-bold.fntdata"/><Relationship Id="rId10" Type="http://schemas.openxmlformats.org/officeDocument/2006/relationships/slide" Target="slides/slide4.xml"/><Relationship Id="rId32" Type="http://schemas.openxmlformats.org/officeDocument/2006/relationships/font" Target="fonts/Urbanist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09000" y="1688846"/>
            <a:ext cx="1162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09000" y="3119746"/>
            <a:ext cx="11620500" cy="29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Design and Evaluation of an Offline-First Digital Agency Banking and Smart Procurement Support System for Rural Micro-Merchants in Sri Lanka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5750" y="6093653"/>
            <a:ext cx="1162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 title="WhatsApp_Image_2026-04-29_at_09.59.44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200" y="601896"/>
            <a:ext cx="3200411" cy="2133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896475" y="1355925"/>
            <a:ext cx="11430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Introduction &amp; Background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66750" y="2416550"/>
            <a:ext cx="1162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Many rural micro-merchants in Sri Lanka still operate using manual methods: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95250" y="4934675"/>
            <a:ext cx="12040800" cy="695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19175" y="5155275"/>
            <a:ext cx="1143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Result: Traditional practices create major operational inefficiencies.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305695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81050" y="3056950"/>
            <a:ext cx="552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Sales recording using notebooks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66750" y="346652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81050" y="3466525"/>
            <a:ext cx="552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expense tracking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387610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81050" y="3876100"/>
            <a:ext cx="552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Supplier balances managed verbally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953250" y="305695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067550" y="3056950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Stock checking from memory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953250" y="346652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067550" y="3466525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Physical bank visits for transactions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7" name="Google Shape;107;p14" title="WhatsApp_Image_2026-04-29_at_09.59.44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2705100"/>
            <a:ext cx="59055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705100"/>
            <a:ext cx="59055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20325" y="1000800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Current Business Challenges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285750" y="5514400"/>
            <a:ext cx="1162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directly affects profitability and business growth.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04800" y="2952750"/>
            <a:ext cx="568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Operational Issues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91300" y="2952750"/>
            <a:ext cx="50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Financial Issues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38137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5800" y="3381375"/>
            <a:ext cx="5029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Frequent stock-outs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379095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5800" y="3790950"/>
            <a:ext cx="5029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Weak supplier coordination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420052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85800" y="4200525"/>
            <a:ext cx="5029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Poor procurement decisions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858000" y="338137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72300" y="3381375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Poor financial visibility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858000" y="379095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972300" y="3790950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Time lost for banking activities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858000" y="420052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72300" y="4200525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Difficulty accessing formal finance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5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title="WhatsApp_Image_2026-04-29_at_09.59.4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952500" y="1086575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Research Gap: Why Existing Solutions Fail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09600" y="2281525"/>
            <a:ext cx="1162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Most current digital tools are developed with an "urban-first" mindset: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0" y="5043775"/>
            <a:ext cx="12192000" cy="695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04850" y="5200650"/>
            <a:ext cx="1143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Rural merchants remain disconnected from formal financial systems due to infrastructure mismatch.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038" y="3429000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328613" y="3924300"/>
            <a:ext cx="240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Expensive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8175" y="34290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3424238" y="3924300"/>
            <a:ext cx="240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Internet Dependent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0" y="34290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519863" y="3924300"/>
            <a:ext cx="240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Urban Design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39425" y="34290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777413" y="3924300"/>
            <a:ext cx="2085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Low Connectivity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16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6" title="WhatsApp_Image_2026-04-29_at_09.59.44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67037"/>
            <a:ext cx="12192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38200" y="1000800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Research Problem &amp; Impact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1035425" y="3064587"/>
            <a:ext cx="11391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035425" y="3493212"/>
            <a:ext cx="11391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Rural micro-merchants lack an integrated system that supports financial record management, inventory monitoring, agency banking, and procurement within </a:t>
            </a:r>
            <a:r>
              <a:rPr b="1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low-connectivity environments.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4652962"/>
            <a:ext cx="62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Business Consequences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38200" y="502443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52500" y="5024437"/>
            <a:ext cx="552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Reactive decision-making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38200" y="543401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5434012"/>
            <a:ext cx="552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Poor working capital management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124700" y="508158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239000" y="508158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Reduced profits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124700" y="549116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239000" y="5491162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Weak financial discipline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7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7" title="WhatsApp_Image_2026-04-29_at_09.59.44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79907"/>
            <a:ext cx="2905125" cy="10909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5625" y="4552357"/>
            <a:ext cx="2905125" cy="10909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7625" y="3677044"/>
            <a:ext cx="2905125" cy="10909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9625" y="4549494"/>
            <a:ext cx="2905125" cy="10909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18"/>
          <p:cNvSpPr txBox="1"/>
          <p:nvPr/>
        </p:nvSpPr>
        <p:spPr>
          <a:xfrm>
            <a:off x="952500" y="1097775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Proposed Research Solution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87400" y="2593557"/>
            <a:ext cx="1162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Offline-First Digital Agency Banking and Smart Procurement Support System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87404" y="4130112"/>
            <a:ext cx="253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Digital Financial Ledger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3283029" y="5002562"/>
            <a:ext cx="253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Offline-First Inventory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345029" y="4127250"/>
            <a:ext cx="253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Simulated Agency Banking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9629200" y="4999700"/>
            <a:ext cx="20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Smart Procurement </a:t>
            </a: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8" title="WhatsApp_Image_2026-04-29_at_09.59.44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6650" y="2908975"/>
            <a:ext cx="540122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650" y="4124325"/>
            <a:ext cx="59055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41225" y="1075125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Component 1: Digital Financial Ledger</a:t>
            </a:r>
            <a:endParaRPr sz="1600"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2908963"/>
            <a:ext cx="620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4" u="none" cap="none" strike="noStrike">
                <a:solidFill>
                  <a:srgbClr val="E0E1DD"/>
                </a:solidFill>
                <a:latin typeface="Urbanist"/>
                <a:ea typeface="Urbanist"/>
                <a:cs typeface="Urbanist"/>
                <a:sym typeface="Urbanist"/>
              </a:rPr>
              <a:t>Purpose</a:t>
            </a:r>
            <a:endParaRPr sz="1600"/>
          </a:p>
        </p:txBody>
      </p:sp>
      <p:sp>
        <p:nvSpPr>
          <p:cNvPr id="193" name="Google Shape;193;p19"/>
          <p:cNvSpPr txBox="1"/>
          <p:nvPr/>
        </p:nvSpPr>
        <p:spPr>
          <a:xfrm>
            <a:off x="470650" y="3324225"/>
            <a:ext cx="5905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Unified ledger for cash/digital sales, expenses, and supplier payments.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814300" y="3156625"/>
            <a:ext cx="50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The Novelty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814300" y="3642400"/>
            <a:ext cx="508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Informal-to-Formal Transformation: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814300" y="4166275"/>
            <a:ext cx="508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Digitally captures informal business activity to create the "structured financial proof" required by banks for credit assessment.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99250" y="4524375"/>
            <a:ext cx="54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Credit Invisibility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9" title="Gemini_Generated_Image_c1kiplc1kiplc1k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4180"/>
            <a:ext cx="12192000" cy="6649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050" y="2908475"/>
            <a:ext cx="54864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350" y="4044200"/>
            <a:ext cx="59055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907700" y="1000800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Component 2: Offline-First Inventory</a:t>
            </a:r>
            <a:endParaRPr sz="1600"/>
          </a:p>
        </p:txBody>
      </p:sp>
      <p:sp>
        <p:nvSpPr>
          <p:cNvPr id="207" name="Google Shape;207;p20"/>
          <p:cNvSpPr txBox="1"/>
          <p:nvPr/>
        </p:nvSpPr>
        <p:spPr>
          <a:xfrm>
            <a:off x="291350" y="2796425"/>
            <a:ext cx="620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4" u="none" cap="none" strike="noStrike">
                <a:solidFill>
                  <a:srgbClr val="E0E1DD"/>
                </a:solidFill>
                <a:latin typeface="Urbanist"/>
                <a:ea typeface="Urbanist"/>
                <a:cs typeface="Urbanist"/>
                <a:sym typeface="Urbanist"/>
              </a:rPr>
              <a:t>Purpose</a:t>
            </a:r>
            <a:endParaRPr sz="1600"/>
          </a:p>
        </p:txBody>
      </p:sp>
      <p:sp>
        <p:nvSpPr>
          <p:cNvPr id="208" name="Google Shape;208;p20"/>
          <p:cNvSpPr txBox="1"/>
          <p:nvPr/>
        </p:nvSpPr>
        <p:spPr>
          <a:xfrm>
            <a:off x="291350" y="3225050"/>
            <a:ext cx="5905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stock tracking and reorder alerts that function without stable internet.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739700" y="3156125"/>
            <a:ext cx="50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The Novelty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739700" y="3641900"/>
            <a:ext cx="508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Rural-First Architecture: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739700" y="4165775"/>
            <a:ext cx="508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Specific data synchronization logic designed to handle intermittent connectivity while maintaining local data integrity for daily operations.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19950" y="4444250"/>
            <a:ext cx="54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Stock-Out Blindness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0" title="Gemini_Generated_Image_yucn0pyucn0pyuc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4180"/>
            <a:ext cx="12192000" cy="6649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5425" y="2964525"/>
            <a:ext cx="54348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212300"/>
            <a:ext cx="59055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851600" y="1052925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Component 3: Simulated Agency Banking</a:t>
            </a:r>
            <a:endParaRPr sz="1600"/>
          </a:p>
        </p:txBody>
      </p:sp>
      <p:sp>
        <p:nvSpPr>
          <p:cNvPr id="222" name="Google Shape;222;p21"/>
          <p:cNvSpPr txBox="1"/>
          <p:nvPr/>
        </p:nvSpPr>
        <p:spPr>
          <a:xfrm>
            <a:off x="268925" y="2964525"/>
            <a:ext cx="620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4" u="none" cap="none" strike="noStrike">
                <a:solidFill>
                  <a:srgbClr val="E0E1DD"/>
                </a:solidFill>
                <a:latin typeface="Urbanist"/>
                <a:ea typeface="Urbanist"/>
                <a:cs typeface="Urbanist"/>
                <a:sym typeface="Urbanist"/>
              </a:rPr>
              <a:t>Purpose</a:t>
            </a:r>
            <a:endParaRPr sz="1600"/>
          </a:p>
        </p:txBody>
      </p:sp>
      <p:sp>
        <p:nvSpPr>
          <p:cNvPr id="223" name="Google Shape;223;p21"/>
          <p:cNvSpPr txBox="1"/>
          <p:nvPr/>
        </p:nvSpPr>
        <p:spPr>
          <a:xfrm>
            <a:off x="268925" y="3393150"/>
            <a:ext cx="5905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Merchant acts as a financial service point, managing deposit requests and liquidity.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803075" y="3212175"/>
            <a:ext cx="50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The Novelty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803075" y="3697950"/>
            <a:ext cx="508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Dual-Role Integration: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803075" y="4221825"/>
            <a:ext cx="508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Seamlessly merging retail sales with financial services so the merchant is both a shopkeeper and a mini-bank branch.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97525" y="4612350"/>
            <a:ext cx="54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Liquidity Access Gap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1" title="Gemini_Generated_Image_gqpomtgqpomtgqp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4180"/>
            <a:ext cx="12192000" cy="6649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1825" y="3042975"/>
            <a:ext cx="553569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325" y="4290750"/>
            <a:ext cx="59055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851625" y="1052750"/>
            <a:ext cx="114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Component 4: Smart Procurement DSS</a:t>
            </a:r>
            <a:endParaRPr sz="1600"/>
          </a:p>
        </p:txBody>
      </p:sp>
      <p:sp>
        <p:nvSpPr>
          <p:cNvPr id="237" name="Google Shape;237;p22"/>
          <p:cNvSpPr txBox="1"/>
          <p:nvPr/>
        </p:nvSpPr>
        <p:spPr>
          <a:xfrm>
            <a:off x="235325" y="3042975"/>
            <a:ext cx="620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4" u="none" cap="none" strike="noStrike">
                <a:solidFill>
                  <a:srgbClr val="E0E1DD"/>
                </a:solidFill>
                <a:latin typeface="Urbanist"/>
                <a:ea typeface="Urbanist"/>
                <a:cs typeface="Urbanist"/>
                <a:sym typeface="Urbanist"/>
              </a:rPr>
              <a:t>Purpose</a:t>
            </a:r>
            <a:endParaRPr sz="1600"/>
          </a:p>
        </p:txBody>
      </p:sp>
      <p:sp>
        <p:nvSpPr>
          <p:cNvPr id="238" name="Google Shape;238;p22"/>
          <p:cNvSpPr txBox="1"/>
          <p:nvPr/>
        </p:nvSpPr>
        <p:spPr>
          <a:xfrm>
            <a:off x="235325" y="3471600"/>
            <a:ext cx="5905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Decision support for reorder timing, supplier selection, and price analysis.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769475" y="3290625"/>
            <a:ext cx="50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The Novelty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769475" y="3776400"/>
            <a:ext cx="508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Explainable Rule-Based Logic: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769475" y="4300275"/>
            <a:ext cx="508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Avoiding "Black Box" AI. Uses transparent scoring and reorder rules that rural merchants can trust and understand.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63925" y="4690800"/>
            <a:ext cx="54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1DD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Procurement Inefficiency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2" title="Gemini_Generated_Image_d2us00d2us00d2u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4180"/>
            <a:ext cx="12192000" cy="6649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/>
        </p:nvSpPr>
        <p:spPr>
          <a:xfrm>
            <a:off x="885250" y="1075775"/>
            <a:ext cx="114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Research Contributions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50" name="Google Shape;250;p23"/>
          <p:cNvGraphicFramePr/>
          <p:nvPr/>
        </p:nvGraphicFramePr>
        <p:xfrm>
          <a:off x="885263" y="2858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{AAB61D85-14DE-47D0-BD61-A66EE1B4D6DD}</a:tableStyleId>
              </a:tblPr>
              <a:tblGrid>
                <a:gridCol w="3352900"/>
                <a:gridCol w="7068575"/>
              </a:tblGrid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Novelty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6B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Financial Ledger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Informal-to-Formal Financial Digitization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Inventory 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Offline-First Rural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Agency Banking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Merchant + Banking Dual-Role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Procurement DSS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Explainable Rule-Based Intelligence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23"/>
          <p:cNvSpPr/>
          <p:nvPr/>
        </p:nvSpPr>
        <p:spPr>
          <a:xfrm>
            <a:off x="0" y="3830175"/>
            <a:ext cx="3922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922514" y="3830175"/>
            <a:ext cx="8269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0" y="4325475"/>
            <a:ext cx="3922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922514" y="4325475"/>
            <a:ext cx="8269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0" y="4820775"/>
            <a:ext cx="3922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3922514" y="4820775"/>
            <a:ext cx="8269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0" y="5316075"/>
            <a:ext cx="3922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3922514" y="5316075"/>
            <a:ext cx="82695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3" title="WhatsApp_Image_2026-04-29_at_09.59.44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CF4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675" y="2191600"/>
            <a:ext cx="59055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175" y="2651875"/>
            <a:ext cx="53341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819150" y="1075750"/>
            <a:ext cx="114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Research Methodology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5343525"/>
            <a:ext cx="116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A86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"This is not just an app </a:t>
            </a:r>
            <a:r>
              <a:rPr lang="en-US" sz="1650">
                <a:solidFill>
                  <a:srgbClr val="00A86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, </a:t>
            </a:r>
            <a:r>
              <a:rPr b="0" i="0" lang="en-US" sz="1650" u="none" cap="none" strike="noStrike">
                <a:solidFill>
                  <a:srgbClr val="00A86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it is a </a:t>
            </a:r>
            <a:r>
              <a:rPr b="0" i="0" lang="en-US" sz="1800" u="none" cap="none" strike="noStrike">
                <a:solidFill>
                  <a:srgbClr val="00A86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research </a:t>
            </a:r>
            <a:r>
              <a:rPr b="0" i="0" lang="en-US" sz="1650" u="none" cap="none" strike="noStrike">
                <a:solidFill>
                  <a:srgbClr val="00A86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artifact."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33325" y="2899525"/>
            <a:ext cx="568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Design Science Research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533325" y="3385300"/>
            <a:ext cx="5410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Focusing on the creation and evaluation of an IT artifact to solve a practical problem.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6819825" y="2899525"/>
            <a:ext cx="50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Evaluation Strategy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7086525" y="332815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200825" y="3328150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Prototype-Based Evaluation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086525" y="3737725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7200825" y="3737725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Socio-Technical Design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7086525" y="4147300"/>
            <a:ext cx="11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7200825" y="4147300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Integrated System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24"/>
          <p:cNvSpPr/>
          <p:nvPr/>
        </p:nvSpPr>
        <p:spPr>
          <a:xfrm flipH="1">
            <a:off x="619175" y="571500"/>
            <a:ext cx="114300" cy="1305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4" title="WhatsApp_Image_2026-04-29_at_09.59.4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500" y="2598362"/>
            <a:ext cx="89916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285750" y="1653712"/>
            <a:ext cx="1162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A86B"/>
                </a:solidFill>
                <a:latin typeface="Urbanist"/>
                <a:ea typeface="Urbanist"/>
                <a:cs typeface="Urbanist"/>
                <a:sym typeface="Urbanist"/>
              </a:rPr>
              <a:t>Final Value Proposition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285750" y="6016162"/>
            <a:ext cx="1162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989050" y="2906374"/>
            <a:ext cx="8572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"Transforming rural micro-merchants from informal shopkeepers into digitally empowered financial participants through offline-first agency banking and smart procurement support."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8" name="Google Shape;288;p25" title="WhatsApp_Image_2026-04-29_at_09.59.44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2225" y="631625"/>
            <a:ext cx="1777126" cy="1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