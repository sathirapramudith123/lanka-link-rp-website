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Raleway Bold" charset="1" panose="00000000000000000000"/>
      <p:regular r:id="rId14"/>
    </p:embeddedFont>
    <p:embeddedFont>
      <p:font typeface="Canva Sans" charset="1" panose="020B0503030501040103"/>
      <p:regular r:id="rId15"/>
    </p:embeddedFont>
    <p:embeddedFont>
      <p:font typeface="Raleway" charset="1" panose="00000000000000000000"/>
      <p:regular r:id="rId16"/>
    </p:embeddedFont>
    <p:embeddedFont>
      <p:font typeface="Arimo Bold" charset="1" panose="020B0704020202020204"/>
      <p:regular r:id="rId17"/>
    </p:embeddedFont>
    <p:embeddedFont>
      <p:font typeface="Arimo" charset="1" panose="020B060402020202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044654" y="-467020"/>
            <a:ext cx="1469107" cy="5985758"/>
          </a:xfrm>
          <a:custGeom>
            <a:avLst/>
            <a:gdLst/>
            <a:ahLst/>
            <a:cxnLst/>
            <a:rect r="r" b="b" t="t" l="l"/>
            <a:pathLst>
              <a:path h="5985758" w="1469107">
                <a:moveTo>
                  <a:pt x="0" y="0"/>
                </a:moveTo>
                <a:lnTo>
                  <a:pt x="1469108" y="0"/>
                </a:lnTo>
                <a:lnTo>
                  <a:pt x="1469108" y="5985757"/>
                </a:lnTo>
                <a:lnTo>
                  <a:pt x="0" y="59857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4967" y="5837053"/>
            <a:ext cx="2470785" cy="4712198"/>
          </a:xfrm>
          <a:custGeom>
            <a:avLst/>
            <a:gdLst/>
            <a:ahLst/>
            <a:cxnLst/>
            <a:rect r="r" b="b" t="t" l="l"/>
            <a:pathLst>
              <a:path h="4712198" w="2470785">
                <a:moveTo>
                  <a:pt x="0" y="0"/>
                </a:moveTo>
                <a:lnTo>
                  <a:pt x="2470785" y="0"/>
                </a:lnTo>
                <a:lnTo>
                  <a:pt x="2470785" y="4712199"/>
                </a:lnTo>
                <a:lnTo>
                  <a:pt x="0" y="47121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974975" y="1028700"/>
            <a:ext cx="5811222" cy="3874151"/>
            <a:chOff x="0" y="0"/>
            <a:chExt cx="7748295" cy="5165534"/>
          </a:xfrm>
        </p:grpSpPr>
        <p:sp>
          <p:nvSpPr>
            <p:cNvPr name="Freeform 5" id="5"/>
            <p:cNvSpPr/>
            <p:nvPr/>
          </p:nvSpPr>
          <p:spPr>
            <a:xfrm flipH="false" flipV="false" rot="0">
              <a:off x="0" y="0"/>
              <a:ext cx="7748270" cy="5165471"/>
            </a:xfrm>
            <a:custGeom>
              <a:avLst/>
              <a:gdLst/>
              <a:ahLst/>
              <a:cxnLst/>
              <a:rect r="r" b="b" t="t" l="l"/>
              <a:pathLst>
                <a:path h="5165471" w="7748270">
                  <a:moveTo>
                    <a:pt x="0" y="0"/>
                  </a:moveTo>
                  <a:lnTo>
                    <a:pt x="7748270" y="0"/>
                  </a:lnTo>
                  <a:lnTo>
                    <a:pt x="7748270" y="5165471"/>
                  </a:lnTo>
                  <a:lnTo>
                    <a:pt x="0" y="5165471"/>
                  </a:lnTo>
                  <a:lnTo>
                    <a:pt x="0" y="0"/>
                  </a:lnTo>
                  <a:close/>
                </a:path>
              </a:pathLst>
            </a:custGeom>
            <a:blipFill>
              <a:blip r:embed="rId6"/>
              <a:stretch>
                <a:fillRect l="0" t="0" r="0" b="-1"/>
              </a:stretch>
            </a:blipFill>
          </p:spPr>
        </p:sp>
      </p:grpSp>
      <p:sp>
        <p:nvSpPr>
          <p:cNvPr name="TextBox 6" id="6"/>
          <p:cNvSpPr txBox="true"/>
          <p:nvPr/>
        </p:nvSpPr>
        <p:spPr>
          <a:xfrm rot="0">
            <a:off x="2593086" y="5478885"/>
            <a:ext cx="14283852" cy="1550565"/>
          </a:xfrm>
          <a:prstGeom prst="rect">
            <a:avLst/>
          </a:prstGeom>
        </p:spPr>
        <p:txBody>
          <a:bodyPr anchor="t" rtlCol="false" tIns="0" lIns="0" bIns="0" rIns="0">
            <a:spAutoFit/>
          </a:bodyPr>
          <a:lstStyle/>
          <a:p>
            <a:pPr algn="l">
              <a:lnSpc>
                <a:spcPts val="5885"/>
              </a:lnSpc>
            </a:pPr>
            <a:r>
              <a:rPr lang="en-US" sz="4203" b="true">
                <a:solidFill>
                  <a:srgbClr val="582B0E"/>
                </a:solidFill>
                <a:latin typeface="Raleway Bold"/>
                <a:ea typeface="Raleway Bold"/>
                <a:cs typeface="Raleway Bold"/>
                <a:sym typeface="Raleway Bold"/>
              </a:rPr>
              <a:t>SMART MERCHANT SUPPORT PLATFORM FOR AGENCY BANKING AND PROCUREMENT </a:t>
            </a:r>
          </a:p>
        </p:txBody>
      </p:sp>
      <p:sp>
        <p:nvSpPr>
          <p:cNvPr name="TextBox 7" id="7"/>
          <p:cNvSpPr txBox="true"/>
          <p:nvPr/>
        </p:nvSpPr>
        <p:spPr>
          <a:xfrm rot="0">
            <a:off x="14362347" y="8331394"/>
            <a:ext cx="2198484" cy="647062"/>
          </a:xfrm>
          <a:prstGeom prst="rect">
            <a:avLst/>
          </a:prstGeom>
        </p:spPr>
        <p:txBody>
          <a:bodyPr anchor="t" rtlCol="false" tIns="0" lIns="0" bIns="0" rIns="0">
            <a:spAutoFit/>
          </a:bodyPr>
          <a:lstStyle/>
          <a:p>
            <a:pPr algn="ctr">
              <a:lnSpc>
                <a:spcPts val="4759"/>
              </a:lnSpc>
            </a:pPr>
            <a:r>
              <a:rPr lang="en-US" sz="3399">
                <a:solidFill>
                  <a:srgbClr val="582B0E"/>
                </a:solidFill>
                <a:latin typeface="Canva Sans"/>
                <a:ea typeface="Canva Sans"/>
                <a:cs typeface="Canva Sans"/>
                <a:sym typeface="Canva Sans"/>
              </a:rPr>
              <a:t>R26-IT-139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157458" y="-335070"/>
            <a:ext cx="2445353" cy="10808103"/>
          </a:xfrm>
          <a:custGeom>
            <a:avLst/>
            <a:gdLst/>
            <a:ahLst/>
            <a:cxnLst/>
            <a:rect r="r" b="b" t="t" l="l"/>
            <a:pathLst>
              <a:path h="10808103" w="2445353">
                <a:moveTo>
                  <a:pt x="0" y="0"/>
                </a:moveTo>
                <a:lnTo>
                  <a:pt x="2445353" y="0"/>
                </a:lnTo>
                <a:lnTo>
                  <a:pt x="2445353" y="10808103"/>
                </a:lnTo>
                <a:lnTo>
                  <a:pt x="0" y="108081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85762" y="1485900"/>
            <a:ext cx="13868962" cy="8277863"/>
          </a:xfrm>
          <a:prstGeom prst="rect">
            <a:avLst/>
          </a:prstGeom>
        </p:spPr>
        <p:txBody>
          <a:bodyPr anchor="t" rtlCol="false" tIns="0" lIns="0" bIns="0" rIns="0">
            <a:spAutoFit/>
          </a:bodyPr>
          <a:lstStyle/>
          <a:p>
            <a:pPr algn="l">
              <a:lnSpc>
                <a:spcPts val="3638"/>
              </a:lnSpc>
            </a:pPr>
            <a:r>
              <a:rPr lang="en-US" sz="2598">
                <a:solidFill>
                  <a:srgbClr val="000000"/>
                </a:solidFill>
                <a:latin typeface="Raleway"/>
                <a:ea typeface="Raleway"/>
                <a:cs typeface="Raleway"/>
                <a:sym typeface="Raleway"/>
              </a:rPr>
              <a:t>Research Gap</a:t>
            </a:r>
          </a:p>
          <a:p>
            <a:pPr algn="l" marL="594236" indent="-198079" lvl="2">
              <a:lnSpc>
                <a:spcPts val="3638"/>
              </a:lnSpc>
              <a:buFont typeface="Arial"/>
              <a:buChar char="⚬"/>
            </a:pPr>
            <a:r>
              <a:rPr lang="en-US" sz="2598">
                <a:solidFill>
                  <a:srgbClr val="000000"/>
                </a:solidFill>
                <a:latin typeface="Raleway"/>
                <a:ea typeface="Raleway"/>
                <a:cs typeface="Raleway"/>
                <a:sym typeface="Raleway"/>
              </a:rPr>
              <a:t>No existing solution integrates financial ledgering, inventory control, agency banking, and procurement decision support into a single platform tailored for rural micro-merchants. Current tools fall into three separate, disconnected categories:</a:t>
            </a:r>
          </a:p>
          <a:p>
            <a:pPr algn="l" marL="594236" indent="-198079" lvl="2">
              <a:lnSpc>
                <a:spcPts val="3638"/>
              </a:lnSpc>
            </a:pPr>
          </a:p>
          <a:p>
            <a:pPr algn="l" marL="594236" indent="-198079" lvl="2">
              <a:lnSpc>
                <a:spcPts val="3638"/>
              </a:lnSpc>
              <a:buFont typeface="Arial"/>
              <a:buChar char="⚬"/>
            </a:pPr>
            <a:r>
              <a:rPr lang="en-US" sz="2598">
                <a:solidFill>
                  <a:srgbClr val="000000"/>
                </a:solidFill>
                <a:latin typeface="Raleway"/>
                <a:ea typeface="Raleway"/>
                <a:cs typeface="Raleway"/>
                <a:sym typeface="Raleway"/>
              </a:rPr>
              <a:t>Accounting/inventory apps → not integrated with banking</a:t>
            </a:r>
          </a:p>
          <a:p>
            <a:pPr algn="l" marL="594236" indent="-198079" lvl="2">
              <a:lnSpc>
                <a:spcPts val="3638"/>
              </a:lnSpc>
              <a:buFont typeface="Arial"/>
              <a:buChar char="⚬"/>
            </a:pPr>
            <a:r>
              <a:rPr lang="en-US" sz="2598">
                <a:solidFill>
                  <a:srgbClr val="000000"/>
                </a:solidFill>
                <a:latin typeface="Raleway"/>
                <a:ea typeface="Raleway"/>
                <a:cs typeface="Raleway"/>
                <a:sym typeface="Raleway"/>
              </a:rPr>
              <a:t>Digital banking/agency apps → online-only, not linked to merchant inventory or procurement</a:t>
            </a:r>
          </a:p>
          <a:p>
            <a:pPr algn="l" marL="594236" indent="-198079" lvl="2">
              <a:lnSpc>
                <a:spcPts val="3638"/>
              </a:lnSpc>
              <a:buFont typeface="Arial"/>
              <a:buChar char="⚬"/>
            </a:pPr>
            <a:r>
              <a:rPr lang="en-US" sz="2598">
                <a:solidFill>
                  <a:srgbClr val="000000"/>
                </a:solidFill>
                <a:latin typeface="Raleway"/>
                <a:ea typeface="Raleway"/>
                <a:cs typeface="Raleway"/>
                <a:sym typeface="Raleway"/>
              </a:rPr>
              <a:t>Generic POS systems → not designed for FIFO costing, rural connectivity, or low-literacy users</a:t>
            </a:r>
          </a:p>
          <a:p>
            <a:pPr algn="l" marL="594236" indent="-198079" lvl="2">
              <a:lnSpc>
                <a:spcPts val="3638"/>
              </a:lnSpc>
            </a:pPr>
          </a:p>
          <a:p>
            <a:pPr algn="l" marL="594236" indent="-198079" lvl="2">
              <a:lnSpc>
                <a:spcPts val="3638"/>
              </a:lnSpc>
            </a:pPr>
            <a:r>
              <a:rPr lang="en-US" sz="2598">
                <a:solidFill>
                  <a:srgbClr val="000000"/>
                </a:solidFill>
                <a:latin typeface="Raleway"/>
                <a:ea typeface="Raleway"/>
                <a:cs typeface="Raleway"/>
                <a:sym typeface="Raleway"/>
              </a:rPr>
              <a:t>Research Objectives</a:t>
            </a:r>
          </a:p>
          <a:p>
            <a:pPr algn="l" marL="594236" indent="-198079" lvl="2">
              <a:lnSpc>
                <a:spcPts val="3638"/>
              </a:lnSpc>
              <a:buAutoNum type="arabicPeriod" startAt="1"/>
            </a:pPr>
            <a:r>
              <a:rPr lang="en-US" sz="2598">
                <a:solidFill>
                  <a:srgbClr val="000000"/>
                </a:solidFill>
                <a:latin typeface="Raleway"/>
                <a:ea typeface="Raleway"/>
                <a:cs typeface="Raleway"/>
                <a:sym typeface="Raleway"/>
              </a:rPr>
              <a:t>Implement digital ledger &amp; income statements.</a:t>
            </a:r>
          </a:p>
          <a:p>
            <a:pPr algn="l" marL="594236" indent="-198079" lvl="2">
              <a:lnSpc>
                <a:spcPts val="3638"/>
              </a:lnSpc>
              <a:buAutoNum type="arabicPeriod" startAt="1"/>
            </a:pPr>
            <a:r>
              <a:rPr lang="en-US" sz="2598">
                <a:solidFill>
                  <a:srgbClr val="000000"/>
                </a:solidFill>
                <a:latin typeface="Raleway"/>
                <a:ea typeface="Raleway"/>
                <a:cs typeface="Raleway"/>
                <a:sym typeface="Raleway"/>
              </a:rPr>
              <a:t>Develop FIFO inventory &amp; supplier tracking.</a:t>
            </a:r>
          </a:p>
          <a:p>
            <a:pPr algn="l" marL="594236" indent="-198079" lvl="2">
              <a:lnSpc>
                <a:spcPts val="3638"/>
              </a:lnSpc>
              <a:buAutoNum type="arabicPeriod" startAt="1"/>
            </a:pPr>
            <a:r>
              <a:rPr lang="en-US" sz="2598">
                <a:solidFill>
                  <a:srgbClr val="000000"/>
                </a:solidFill>
                <a:latin typeface="Raleway"/>
                <a:ea typeface="Raleway"/>
                <a:cs typeface="Raleway"/>
                <a:sym typeface="Raleway"/>
              </a:rPr>
              <a:t>Simulate agency banking with ML-based security alerts to the merchant.</a:t>
            </a:r>
          </a:p>
          <a:p>
            <a:pPr algn="l" marL="594236" indent="-198079" lvl="2">
              <a:lnSpc>
                <a:spcPts val="3638"/>
              </a:lnSpc>
              <a:buAutoNum type="arabicPeriod" startAt="1"/>
            </a:pPr>
            <a:r>
              <a:rPr lang="en-US" sz="2598">
                <a:solidFill>
                  <a:srgbClr val="000000"/>
                </a:solidFill>
                <a:latin typeface="Raleway"/>
                <a:ea typeface="Raleway"/>
                <a:cs typeface="Raleway"/>
                <a:sym typeface="Raleway"/>
              </a:rPr>
              <a:t>Build smart procurement decision support.</a:t>
            </a:r>
          </a:p>
          <a:p>
            <a:pPr algn="l" marL="594236" indent="-198079" lvl="2">
              <a:lnSpc>
                <a:spcPts val="3638"/>
              </a:lnSpc>
            </a:pPr>
          </a:p>
          <a:p>
            <a:pPr algn="l" marL="594236" indent="-198079" lvl="2">
              <a:lnSpc>
                <a:spcPts val="3638"/>
              </a:lnSpc>
            </a:pPr>
          </a:p>
        </p:txBody>
      </p:sp>
      <p:grpSp>
        <p:nvGrpSpPr>
          <p:cNvPr name="Group 4" id="4"/>
          <p:cNvGrpSpPr/>
          <p:nvPr/>
        </p:nvGrpSpPr>
        <p:grpSpPr>
          <a:xfrm rot="0">
            <a:off x="15358558" y="0"/>
            <a:ext cx="2929442" cy="1952958"/>
            <a:chOff x="0" y="0"/>
            <a:chExt cx="3905923" cy="2603944"/>
          </a:xfrm>
        </p:grpSpPr>
        <p:sp>
          <p:nvSpPr>
            <p:cNvPr name="Freeform 5" id="5"/>
            <p:cNvSpPr/>
            <p:nvPr/>
          </p:nvSpPr>
          <p:spPr>
            <a:xfrm flipH="false" flipV="false" rot="0">
              <a:off x="0" y="0"/>
              <a:ext cx="3905885" cy="2604008"/>
            </a:xfrm>
            <a:custGeom>
              <a:avLst/>
              <a:gdLst/>
              <a:ahLst/>
              <a:cxnLst/>
              <a:rect r="r" b="b" t="t" l="l"/>
              <a:pathLst>
                <a:path h="2604008" w="3905885">
                  <a:moveTo>
                    <a:pt x="0" y="0"/>
                  </a:moveTo>
                  <a:lnTo>
                    <a:pt x="3905885" y="0"/>
                  </a:lnTo>
                  <a:lnTo>
                    <a:pt x="3905885" y="2604008"/>
                  </a:lnTo>
                  <a:lnTo>
                    <a:pt x="0" y="2604008"/>
                  </a:lnTo>
                  <a:lnTo>
                    <a:pt x="0" y="0"/>
                  </a:lnTo>
                  <a:close/>
                </a:path>
              </a:pathLst>
            </a:custGeom>
            <a:blipFill>
              <a:blip r:embed="rId4"/>
              <a:stretch>
                <a:fillRect l="0" t="0" r="0" b="2"/>
              </a:stretch>
            </a:blipFill>
          </p:spPr>
        </p:sp>
      </p:grpSp>
      <p:sp>
        <p:nvSpPr>
          <p:cNvPr name="TextBox 6" id="6"/>
          <p:cNvSpPr txBox="true"/>
          <p:nvPr/>
        </p:nvSpPr>
        <p:spPr>
          <a:xfrm rot="0">
            <a:off x="1664379" y="148466"/>
            <a:ext cx="6193193" cy="1200150"/>
          </a:xfrm>
          <a:prstGeom prst="rect">
            <a:avLst/>
          </a:prstGeom>
        </p:spPr>
        <p:txBody>
          <a:bodyPr anchor="t" rtlCol="false" tIns="0" lIns="0" bIns="0" rIns="0">
            <a:spAutoFit/>
          </a:bodyPr>
          <a:lstStyle/>
          <a:p>
            <a:pPr algn="l">
              <a:lnSpc>
                <a:spcPts val="9150"/>
              </a:lnSpc>
            </a:pPr>
            <a:r>
              <a:rPr lang="en-US" sz="7500">
                <a:solidFill>
                  <a:srgbClr val="582B0E"/>
                </a:solidFill>
                <a:latin typeface="Raleway"/>
                <a:ea typeface="Raleway"/>
                <a:cs typeface="Raleway"/>
                <a:sym typeface="Raleway"/>
              </a:rPr>
              <a:t>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358558" y="0"/>
            <a:ext cx="2929442" cy="1952958"/>
            <a:chOff x="0" y="0"/>
            <a:chExt cx="3905923" cy="2603944"/>
          </a:xfrm>
        </p:grpSpPr>
        <p:sp>
          <p:nvSpPr>
            <p:cNvPr name="Freeform 3" id="3"/>
            <p:cNvSpPr/>
            <p:nvPr/>
          </p:nvSpPr>
          <p:spPr>
            <a:xfrm flipH="false" flipV="false" rot="0">
              <a:off x="0" y="0"/>
              <a:ext cx="3905885" cy="2604008"/>
            </a:xfrm>
            <a:custGeom>
              <a:avLst/>
              <a:gdLst/>
              <a:ahLst/>
              <a:cxnLst/>
              <a:rect r="r" b="b" t="t" l="l"/>
              <a:pathLst>
                <a:path h="2604008" w="3905885">
                  <a:moveTo>
                    <a:pt x="0" y="0"/>
                  </a:moveTo>
                  <a:lnTo>
                    <a:pt x="3905885" y="0"/>
                  </a:lnTo>
                  <a:lnTo>
                    <a:pt x="3905885" y="2604008"/>
                  </a:lnTo>
                  <a:lnTo>
                    <a:pt x="0" y="2604008"/>
                  </a:lnTo>
                  <a:lnTo>
                    <a:pt x="0" y="0"/>
                  </a:lnTo>
                  <a:close/>
                </a:path>
              </a:pathLst>
            </a:custGeom>
            <a:blipFill>
              <a:blip r:embed="rId2"/>
              <a:stretch>
                <a:fillRect l="0" t="0" r="0" b="2"/>
              </a:stretch>
            </a:blipFill>
          </p:spPr>
        </p:sp>
      </p:grpSp>
      <p:graphicFrame>
        <p:nvGraphicFramePr>
          <p:cNvPr name="Table 4" id="4"/>
          <p:cNvGraphicFramePr>
            <a:graphicFrameLocks noGrp="true"/>
          </p:cNvGraphicFramePr>
          <p:nvPr/>
        </p:nvGraphicFramePr>
        <p:xfrm>
          <a:off x="1028700" y="1585896"/>
          <a:ext cx="14655800" cy="8153400"/>
        </p:xfrm>
        <a:graphic>
          <a:graphicData uri="http://schemas.openxmlformats.org/drawingml/2006/table">
            <a:tbl>
              <a:tblPr/>
              <a:tblGrid>
                <a:gridCol w="7286324"/>
                <a:gridCol w="7369476"/>
              </a:tblGrid>
              <a:tr h="1134829">
                <a:tc>
                  <a:txBody>
                    <a:bodyPr anchor="t" rtlCol="false"/>
                    <a:lstStyle/>
                    <a:p>
                      <a:pPr algn="ctr">
                        <a:lnSpc>
                          <a:spcPts val="4480"/>
                        </a:lnSpc>
                        <a:defRPr/>
                      </a:pPr>
                      <a:r>
                        <a:rPr lang="en-US" sz="3200">
                          <a:solidFill>
                            <a:srgbClr val="000000"/>
                          </a:solidFill>
                          <a:latin typeface="Raleway"/>
                          <a:ea typeface="Raleway"/>
                          <a:cs typeface="Raleway"/>
                          <a:sym typeface="Raleway"/>
                        </a:rPr>
                        <a:t>PP1 Comment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480"/>
                        </a:lnSpc>
                        <a:defRPr/>
                      </a:pPr>
                      <a:r>
                        <a:rPr lang="en-US" sz="3200">
                          <a:solidFill>
                            <a:srgbClr val="000000"/>
                          </a:solidFill>
                          <a:latin typeface="Raleway"/>
                          <a:ea typeface="Raleway"/>
                          <a:cs typeface="Raleway"/>
                          <a:sym typeface="Raleway"/>
                        </a:rPr>
                        <a:t>Way we Address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018571">
                <a:tc>
                  <a:txBody>
                    <a:bodyPr anchor="t" rtlCol="false"/>
                    <a:lstStyle/>
                    <a:p>
                      <a:pPr algn="ctr">
                        <a:lnSpc>
                          <a:spcPts val="2520"/>
                        </a:lnSpc>
                        <a:defRPr/>
                      </a:pPr>
                      <a:r>
                        <a:rPr lang="en-US" sz="1800">
                          <a:solidFill>
                            <a:srgbClr val="000000"/>
                          </a:solidFill>
                          <a:latin typeface="Raleway"/>
                          <a:ea typeface="Raleway"/>
                          <a:cs typeface="Raleway"/>
                          <a:sym typeface="Raleway"/>
                        </a:rPr>
                        <a:t>The current work presented by the group does not sufficiently demonstrate the characteristics of a research project. At present, the implementation mainly consists of visualizing dummy data through a web application, without showing a clear research problem, technical contribution, experimentation, or analytical depth expected from a year-long research project. Data visualization alone is not considered a research contribution unless it is supported by meaningful analysis, intelligent processing, novel methodologies, predictive modeling, or experimentally validated outcomes. The group needs to clearly identify what the actual research component of the project is and how the proposed work contributes beyond basic application development and visualization.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b="true">
                          <a:solidFill>
                            <a:srgbClr val="000000"/>
                          </a:solidFill>
                          <a:latin typeface="Arimo Bold"/>
                          <a:ea typeface="Arimo Bold"/>
                          <a:cs typeface="Arimo Bold"/>
                          <a:sym typeface="Arimo Bold"/>
                        </a:rPr>
                        <a:t>Clear Research Problem:</a:t>
                      </a:r>
                      <a:r>
                        <a:rPr lang="en-US" sz="1800">
                          <a:solidFill>
                            <a:srgbClr val="000000"/>
                          </a:solidFill>
                          <a:latin typeface="Arimo"/>
                          <a:ea typeface="Arimo"/>
                          <a:cs typeface="Arimo"/>
                          <a:sym typeface="Arimo"/>
                        </a:rPr>
                        <a:t> Addressed the lack of a </a:t>
                      </a:r>
                      <a:r>
                        <a:rPr lang="en-US" sz="1800" b="true">
                          <a:solidFill>
                            <a:srgbClr val="000000"/>
                          </a:solidFill>
                          <a:latin typeface="Arimo Bold"/>
                          <a:ea typeface="Arimo Bold"/>
                          <a:cs typeface="Arimo Bold"/>
                          <a:sym typeface="Arimo Bold"/>
                        </a:rPr>
                        <a:t>unified platform</a:t>
                      </a:r>
                      <a:r>
                        <a:rPr lang="en-US" sz="1800">
                          <a:solidFill>
                            <a:srgbClr val="000000"/>
                          </a:solidFill>
                          <a:latin typeface="Arimo"/>
                          <a:ea typeface="Arimo"/>
                          <a:cs typeface="Arimo"/>
                          <a:sym typeface="Arimo"/>
                        </a:rPr>
                        <a:t> for rural micro-merchants.</a:t>
                      </a:r>
                      <a:endParaRPr lang="en-US" sz="1100"/>
                    </a:p>
                    <a:p>
                      <a:pPr algn="l">
                        <a:lnSpc>
                          <a:spcPts val="2520"/>
                        </a:lnSpc>
                      </a:pPr>
                      <a:r>
                        <a:rPr lang="en-US" sz="1800" b="true">
                          <a:solidFill>
                            <a:srgbClr val="000000"/>
                          </a:solidFill>
                          <a:latin typeface="Arimo Bold"/>
                          <a:ea typeface="Arimo Bold"/>
                          <a:cs typeface="Arimo Bold"/>
                          <a:sym typeface="Arimo Bold"/>
                        </a:rPr>
                        <a:t>Technical Contribution:</a:t>
                      </a:r>
                      <a:r>
                        <a:rPr lang="en-US" sz="1800">
                          <a:solidFill>
                            <a:srgbClr val="000000"/>
                          </a:solidFill>
                          <a:latin typeface="Arimo"/>
                          <a:ea typeface="Arimo"/>
                          <a:cs typeface="Arimo"/>
                          <a:sym typeface="Arimo"/>
                        </a:rPr>
                        <a:t> </a:t>
                      </a:r>
                      <a:r>
                        <a:rPr lang="en-US" sz="1800" b="true">
                          <a:solidFill>
                            <a:srgbClr val="000000"/>
                          </a:solidFill>
                          <a:latin typeface="Arimo Bold"/>
                          <a:ea typeface="Arimo Bold"/>
                          <a:cs typeface="Arimo Bold"/>
                          <a:sym typeface="Arimo Bold"/>
                        </a:rPr>
                        <a:t>Integrated multiple systems—financial</a:t>
                      </a:r>
                      <a:r>
                        <a:rPr lang="en-US" sz="1800">
                          <a:solidFill>
                            <a:srgbClr val="000000"/>
                          </a:solidFill>
                          <a:latin typeface="Arimo"/>
                          <a:ea typeface="Arimo"/>
                          <a:cs typeface="Arimo"/>
                          <a:sym typeface="Arimo"/>
                        </a:rPr>
                        <a:t> ledger, inventory management, agency banking, and procurement—into a single platform.</a:t>
                      </a:r>
                    </a:p>
                    <a:p>
                      <a:pPr algn="l">
                        <a:lnSpc>
                          <a:spcPts val="2520"/>
                        </a:lnSpc>
                      </a:pPr>
                      <a:r>
                        <a:rPr lang="en-US" sz="1800" b="true">
                          <a:solidFill>
                            <a:srgbClr val="000000"/>
                          </a:solidFill>
                          <a:latin typeface="Arimo Bold"/>
                          <a:ea typeface="Arimo Bold"/>
                          <a:cs typeface="Arimo Bold"/>
                          <a:sym typeface="Arimo Bold"/>
                        </a:rPr>
                        <a:t>Intelligent Processing:</a:t>
                      </a:r>
                      <a:r>
                        <a:rPr lang="en-US" sz="1800">
                          <a:solidFill>
                            <a:srgbClr val="000000"/>
                          </a:solidFill>
                          <a:latin typeface="Arimo"/>
                          <a:ea typeface="Arimo"/>
                          <a:cs typeface="Arimo"/>
                          <a:sym typeface="Arimo"/>
                        </a:rPr>
                        <a:t>Implemented intelligent features including</a:t>
                      </a:r>
                    </a:p>
                    <a:p>
                      <a:pPr algn="l">
                        <a:lnSpc>
                          <a:spcPts val="2520"/>
                        </a:lnSpc>
                      </a:pPr>
                      <a:r>
                        <a:rPr lang="en-US" sz="1800">
                          <a:solidFill>
                            <a:srgbClr val="000000"/>
                          </a:solidFill>
                          <a:latin typeface="Arimo"/>
                          <a:ea typeface="Arimo"/>
                          <a:cs typeface="Arimo"/>
                          <a:sym typeface="Arimo"/>
                        </a:rPr>
                        <a:t>Credit Score Prediction</a:t>
                      </a:r>
                    </a:p>
                    <a:p>
                      <a:pPr algn="l">
                        <a:lnSpc>
                          <a:spcPts val="2520"/>
                        </a:lnSpc>
                      </a:pPr>
                      <a:r>
                        <a:rPr lang="en-US" sz="1800">
                          <a:solidFill>
                            <a:srgbClr val="000000"/>
                          </a:solidFill>
                          <a:latin typeface="Arimo"/>
                          <a:ea typeface="Arimo"/>
                          <a:cs typeface="Arimo"/>
                          <a:sym typeface="Arimo"/>
                        </a:rPr>
                        <a:t>Sales Forecasting</a:t>
                      </a:r>
                    </a:p>
                    <a:p>
                      <a:pPr algn="l">
                        <a:lnSpc>
                          <a:spcPts val="2520"/>
                        </a:lnSpc>
                      </a:pPr>
                      <a:r>
                        <a:rPr lang="en-US" sz="1800">
                          <a:solidFill>
                            <a:srgbClr val="000000"/>
                          </a:solidFill>
                          <a:latin typeface="Arimo"/>
                          <a:ea typeface="Arimo"/>
                          <a:cs typeface="Arimo"/>
                          <a:sym typeface="Arimo"/>
                        </a:rPr>
                        <a:t>Buy-or-Wait Recommendation</a:t>
                      </a:r>
                    </a:p>
                    <a:p>
                      <a:pPr algn="l">
                        <a:lnSpc>
                          <a:spcPts val="2520"/>
                        </a:lnSpc>
                      </a:pPr>
                      <a:r>
                        <a:rPr lang="en-US" sz="1800">
                          <a:solidFill>
                            <a:srgbClr val="000000"/>
                          </a:solidFill>
                          <a:latin typeface="Arimo"/>
                          <a:ea typeface="Arimo"/>
                          <a:cs typeface="Arimo"/>
                          <a:sym typeface="Arimo"/>
                        </a:rPr>
                        <a:t>Account Activity State Prediction</a:t>
                      </a:r>
                    </a:p>
                    <a:p>
                      <a:pPr algn="l">
                        <a:lnSpc>
                          <a:spcPts val="2520"/>
                        </a:lnSpc>
                      </a:pPr>
                      <a:r>
                        <a:rPr lang="en-US" sz="1800" b="true">
                          <a:solidFill>
                            <a:srgbClr val="000000"/>
                          </a:solidFill>
                          <a:latin typeface="Arimo Bold"/>
                          <a:ea typeface="Arimo Bold"/>
                          <a:cs typeface="Arimo Bold"/>
                          <a:sym typeface="Arimo Bold"/>
                        </a:rPr>
                        <a:t>Analytical Component:</a:t>
                      </a:r>
                      <a:r>
                        <a:rPr lang="en-US" sz="1800">
                          <a:solidFill>
                            <a:srgbClr val="000000"/>
                          </a:solidFill>
                          <a:latin typeface="Arimo"/>
                          <a:ea typeface="Arimo"/>
                          <a:cs typeface="Arimo"/>
                          <a:sym typeface="Arimo"/>
                        </a:rPr>
                        <a:t> Uses transaction, sales, inventory, and account activity data to generate </a:t>
                      </a:r>
                      <a:r>
                        <a:rPr lang="en-US" sz="1800" b="true">
                          <a:solidFill>
                            <a:srgbClr val="000000"/>
                          </a:solidFill>
                          <a:latin typeface="Arimo Bold"/>
                          <a:ea typeface="Arimo Bold"/>
                          <a:cs typeface="Arimo Bold"/>
                          <a:sym typeface="Arimo Bold"/>
                        </a:rPr>
                        <a:t>data-driven insights and recommendations</a:t>
                      </a:r>
                      <a:r>
                        <a:rPr lang="en-US" sz="1800">
                          <a:solidFill>
                            <a:srgbClr val="000000"/>
                          </a:solidFill>
                          <a:latin typeface="Arimo"/>
                          <a:ea typeface="Arimo"/>
                          <a:cs typeface="Arimo"/>
                          <a:sym typeface="Arimo"/>
                        </a:rPr>
                        <a:t>.</a:t>
                      </a:r>
                    </a:p>
                    <a:p>
                      <a:pPr algn="l">
                        <a:lnSpc>
                          <a:spcPts val="2520"/>
                        </a:lnSpc>
                      </a:pPr>
                      <a:r>
                        <a:rPr lang="en-US" sz="1800" b="true">
                          <a:solidFill>
                            <a:srgbClr val="000000"/>
                          </a:solidFill>
                          <a:latin typeface="Arimo Bold"/>
                          <a:ea typeface="Arimo Bold"/>
                          <a:cs typeface="Arimo Bold"/>
                          <a:sym typeface="Arimo Bold"/>
                        </a:rPr>
                        <a:t>Research Validation:</a:t>
                      </a:r>
                      <a:r>
                        <a:rPr lang="en-US" sz="1800">
                          <a:solidFill>
                            <a:srgbClr val="000000"/>
                          </a:solidFill>
                          <a:latin typeface="Arimo"/>
                          <a:ea typeface="Arimo"/>
                          <a:cs typeface="Arimo"/>
                          <a:sym typeface="Arimo"/>
                        </a:rPr>
                        <a:t> Evaluating the developed intelligent models and system through </a:t>
                      </a:r>
                      <a:r>
                        <a:rPr lang="en-US" sz="1800" b="true">
                          <a:solidFill>
                            <a:srgbClr val="000000"/>
                          </a:solidFill>
                          <a:latin typeface="Arimo Bold"/>
                          <a:ea typeface="Arimo Bold"/>
                          <a:cs typeface="Arimo Bold"/>
                          <a:sym typeface="Arimo Bold"/>
                        </a:rPr>
                        <a:t>performance, accuracy, usability, and low-connectivity testing</a:t>
                      </a:r>
                      <a:r>
                        <a:rPr lang="en-US" sz="1800">
                          <a:solidFill>
                            <a:srgbClr val="000000"/>
                          </a:solidFill>
                          <a:latin typeface="Arimo"/>
                          <a:ea typeface="Arimo"/>
                          <a:cs typeface="Arimo"/>
                          <a:sym typeface="Arimo"/>
                        </a:rPr>
                        <a:t>.</a:t>
                      </a:r>
                    </a:p>
                    <a:p>
                      <a:pPr algn="l">
                        <a:lnSpc>
                          <a:spcPts val="2520"/>
                        </a:lnSpc>
                      </a:pPr>
                      <a:r>
                        <a:rPr lang="en-US" sz="1800" b="true">
                          <a:solidFill>
                            <a:srgbClr val="000000"/>
                          </a:solidFill>
                          <a:latin typeface="Arimo Bold"/>
                          <a:ea typeface="Arimo Bold"/>
                          <a:cs typeface="Arimo Bold"/>
                          <a:sym typeface="Arimo Bold"/>
                        </a:rPr>
                        <a:t>Beyond Visualization:</a:t>
                      </a:r>
                      <a:r>
                        <a:rPr lang="en-US" sz="1800">
                          <a:solidFill>
                            <a:srgbClr val="000000"/>
                          </a:solidFill>
                          <a:latin typeface="Arimo"/>
                          <a:ea typeface="Arimo"/>
                          <a:cs typeface="Arimo"/>
                          <a:sym typeface="Arimo"/>
                        </a:rPr>
                        <a:t> The system goes beyond dummy-data visualization by incorporating </a:t>
                      </a:r>
                      <a:r>
                        <a:rPr lang="en-US" sz="1800" b="true">
                          <a:solidFill>
                            <a:srgbClr val="000000"/>
                          </a:solidFill>
                          <a:latin typeface="Arimo Bold"/>
                          <a:ea typeface="Arimo Bold"/>
                          <a:cs typeface="Arimo Bold"/>
                          <a:sym typeface="Arimo Bold"/>
                        </a:rPr>
                        <a:t>ML-based prediction, decision support, and integrated financial/inventory processing</a:t>
                      </a:r>
                      <a:r>
                        <a:rPr lang="en-US" sz="1800">
                          <a:solidFill>
                            <a:srgbClr val="000000"/>
                          </a:solidFill>
                          <a:latin typeface="Arimo"/>
                          <a:ea typeface="Arimo"/>
                          <a:cs typeface="Arimo"/>
                          <a:sym typeface="Arimo"/>
                        </a:rPr>
                        <a:t>.</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3820916" y="385743"/>
            <a:ext cx="11089996" cy="1200150"/>
          </a:xfrm>
          <a:prstGeom prst="rect">
            <a:avLst/>
          </a:prstGeom>
        </p:spPr>
        <p:txBody>
          <a:bodyPr anchor="t" rtlCol="false" tIns="0" lIns="0" bIns="0" rIns="0">
            <a:spAutoFit/>
          </a:bodyPr>
          <a:lstStyle/>
          <a:p>
            <a:pPr algn="l">
              <a:lnSpc>
                <a:spcPts val="9150"/>
              </a:lnSpc>
            </a:pPr>
            <a:r>
              <a:rPr lang="en-US" sz="7500">
                <a:solidFill>
                  <a:srgbClr val="582B0E"/>
                </a:solidFill>
                <a:latin typeface="Raleway"/>
                <a:ea typeface="Raleway"/>
                <a:cs typeface="Raleway"/>
                <a:sym typeface="Raleway"/>
              </a:rPr>
              <a:t>PP1 Comment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18706" y="7034384"/>
            <a:ext cx="2445353" cy="3538814"/>
          </a:xfrm>
          <a:custGeom>
            <a:avLst/>
            <a:gdLst/>
            <a:ahLst/>
            <a:cxnLst/>
            <a:rect r="r" b="b" t="t" l="l"/>
            <a:pathLst>
              <a:path h="3538814" w="2445353">
                <a:moveTo>
                  <a:pt x="0" y="0"/>
                </a:moveTo>
                <a:lnTo>
                  <a:pt x="2445353" y="0"/>
                </a:lnTo>
                <a:lnTo>
                  <a:pt x="2445353" y="3538814"/>
                </a:lnTo>
                <a:lnTo>
                  <a:pt x="0" y="35388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65323" y="8899398"/>
            <a:ext cx="1672638" cy="1673790"/>
          </a:xfrm>
          <a:custGeom>
            <a:avLst/>
            <a:gdLst/>
            <a:ahLst/>
            <a:cxnLst/>
            <a:rect r="r" b="b" t="t" l="l"/>
            <a:pathLst>
              <a:path h="1673790" w="1672638">
                <a:moveTo>
                  <a:pt x="0" y="0"/>
                </a:moveTo>
                <a:lnTo>
                  <a:pt x="1672638" y="0"/>
                </a:lnTo>
                <a:lnTo>
                  <a:pt x="1672638" y="1673790"/>
                </a:lnTo>
                <a:lnTo>
                  <a:pt x="0" y="1673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826647" y="160887"/>
            <a:ext cx="8631184" cy="1200150"/>
          </a:xfrm>
          <a:prstGeom prst="rect">
            <a:avLst/>
          </a:prstGeom>
        </p:spPr>
        <p:txBody>
          <a:bodyPr anchor="t" rtlCol="false" tIns="0" lIns="0" bIns="0" rIns="0">
            <a:spAutoFit/>
          </a:bodyPr>
          <a:lstStyle/>
          <a:p>
            <a:pPr algn="l">
              <a:lnSpc>
                <a:spcPts val="9150"/>
              </a:lnSpc>
            </a:pPr>
            <a:r>
              <a:rPr lang="en-US" sz="7500">
                <a:solidFill>
                  <a:srgbClr val="582B0E"/>
                </a:solidFill>
                <a:latin typeface="Raleway"/>
                <a:ea typeface="Raleway"/>
                <a:cs typeface="Raleway"/>
                <a:sym typeface="Raleway"/>
              </a:rPr>
              <a:t>Proposed Solution</a:t>
            </a:r>
          </a:p>
        </p:txBody>
      </p:sp>
      <p:sp>
        <p:nvSpPr>
          <p:cNvPr name="TextBox 5" id="5"/>
          <p:cNvSpPr txBox="true"/>
          <p:nvPr/>
        </p:nvSpPr>
        <p:spPr>
          <a:xfrm rot="0">
            <a:off x="1826647" y="1535278"/>
            <a:ext cx="13745642" cy="7655643"/>
          </a:xfrm>
          <a:prstGeom prst="rect">
            <a:avLst/>
          </a:prstGeom>
        </p:spPr>
        <p:txBody>
          <a:bodyPr anchor="t" rtlCol="false" tIns="0" lIns="0" bIns="0" rIns="0">
            <a:spAutoFit/>
          </a:bodyPr>
          <a:lstStyle/>
          <a:p>
            <a:pPr algn="l">
              <a:lnSpc>
                <a:spcPts val="4334"/>
              </a:lnSpc>
            </a:pPr>
            <a:r>
              <a:rPr lang="en-US" sz="3096" b="true">
                <a:solidFill>
                  <a:srgbClr val="000000"/>
                </a:solidFill>
                <a:latin typeface="Raleway Bold"/>
                <a:ea typeface="Raleway Bold"/>
                <a:cs typeface="Raleway Bold"/>
                <a:sym typeface="Raleway Bold"/>
              </a:rPr>
              <a:t>Digital Agency Banking &amp; Smart Procurement Support System: a single platform that replaces notebooks, memory, and physical bank visits with four connected digital modules, built to work reliably: </a:t>
            </a:r>
          </a:p>
          <a:p>
            <a:pPr algn="l">
              <a:lnSpc>
                <a:spcPts val="4334"/>
              </a:lnSpc>
            </a:pPr>
          </a:p>
          <a:p>
            <a:pPr algn="l" marL="707816" indent="-235939" lvl="2">
              <a:lnSpc>
                <a:spcPts val="4334"/>
              </a:lnSpc>
              <a:buAutoNum type="arabicPeriod" startAt="1"/>
            </a:pPr>
            <a:r>
              <a:rPr lang="en-US" sz="3096">
                <a:solidFill>
                  <a:srgbClr val="000000"/>
                </a:solidFill>
                <a:latin typeface="Raleway"/>
                <a:ea typeface="Raleway"/>
                <a:cs typeface="Raleway"/>
                <a:sym typeface="Raleway"/>
              </a:rPr>
              <a:t>Digital Financial Ledger: every sale/expense auto-generates a live income statement (no manual bookkeeping)</a:t>
            </a:r>
          </a:p>
          <a:p>
            <a:pPr algn="l" marL="707816" indent="-235939" lvl="2">
              <a:lnSpc>
                <a:spcPts val="4334"/>
              </a:lnSpc>
              <a:buAutoNum type="arabicPeriod" startAt="1"/>
            </a:pPr>
            <a:r>
              <a:rPr lang="en-US" sz="3096">
                <a:solidFill>
                  <a:srgbClr val="000000"/>
                </a:solidFill>
                <a:latin typeface="Raleway"/>
                <a:ea typeface="Raleway"/>
                <a:cs typeface="Raleway"/>
                <a:sym typeface="Raleway"/>
              </a:rPr>
              <a:t>Offline Inventory &amp; Supplier Management: FIFO stock batches with accurate costing, tracked and editable without internet</a:t>
            </a:r>
          </a:p>
          <a:p>
            <a:pPr algn="l" marL="707816" indent="-235939" lvl="2">
              <a:lnSpc>
                <a:spcPts val="4334"/>
              </a:lnSpc>
              <a:buAutoNum type="arabicPeriod" startAt="1"/>
            </a:pPr>
            <a:r>
              <a:rPr lang="en-US" sz="3096">
                <a:solidFill>
                  <a:srgbClr val="000000"/>
                </a:solidFill>
                <a:latin typeface="Raleway"/>
                <a:ea typeface="Raleway"/>
                <a:cs typeface="Raleway"/>
                <a:sym typeface="Raleway"/>
              </a:rPr>
              <a:t>Simulated agency banking deposits and withdrawals, backed by ML-driven liquidity forecasting and anomaly detection</a:t>
            </a:r>
          </a:p>
          <a:p>
            <a:pPr algn="l" marL="707816" indent="-235939" lvl="2">
              <a:lnSpc>
                <a:spcPts val="4334"/>
              </a:lnSpc>
              <a:buAutoNum type="arabicPeriod" startAt="1"/>
            </a:pPr>
            <a:r>
              <a:rPr lang="en-US" sz="3096">
                <a:solidFill>
                  <a:srgbClr val="000000"/>
                </a:solidFill>
                <a:latin typeface="Raleway"/>
                <a:ea typeface="Raleway"/>
                <a:cs typeface="Raleway"/>
                <a:sym typeface="Raleway"/>
              </a:rPr>
              <a:t>Smart Procurement Decision Support: supplier recommendations based on distance (Haversine formula), lead time, and price</a:t>
            </a:r>
          </a:p>
          <a:p>
            <a:pPr algn="l" marL="707816" indent="-235939" lvl="2">
              <a:lnSpc>
                <a:spcPts val="4334"/>
              </a:lnSpc>
            </a:pPr>
          </a:p>
          <a:p>
            <a:pPr algn="l" marL="707816" indent="-235939" lvl="2">
              <a:lnSpc>
                <a:spcPts val="4334"/>
              </a:lnSpc>
            </a:pPr>
          </a:p>
        </p:txBody>
      </p:sp>
      <p:grpSp>
        <p:nvGrpSpPr>
          <p:cNvPr name="Group 6" id="6"/>
          <p:cNvGrpSpPr/>
          <p:nvPr/>
        </p:nvGrpSpPr>
        <p:grpSpPr>
          <a:xfrm rot="0">
            <a:off x="15358558" y="0"/>
            <a:ext cx="2929442" cy="1952958"/>
            <a:chOff x="0" y="0"/>
            <a:chExt cx="3905923" cy="2603944"/>
          </a:xfrm>
        </p:grpSpPr>
        <p:sp>
          <p:nvSpPr>
            <p:cNvPr name="Freeform 7" id="7"/>
            <p:cNvSpPr/>
            <p:nvPr/>
          </p:nvSpPr>
          <p:spPr>
            <a:xfrm flipH="false" flipV="false" rot="0">
              <a:off x="0" y="0"/>
              <a:ext cx="3905885" cy="2604008"/>
            </a:xfrm>
            <a:custGeom>
              <a:avLst/>
              <a:gdLst/>
              <a:ahLst/>
              <a:cxnLst/>
              <a:rect r="r" b="b" t="t" l="l"/>
              <a:pathLst>
                <a:path h="2604008" w="3905885">
                  <a:moveTo>
                    <a:pt x="0" y="0"/>
                  </a:moveTo>
                  <a:lnTo>
                    <a:pt x="3905885" y="0"/>
                  </a:lnTo>
                  <a:lnTo>
                    <a:pt x="3905885" y="2604008"/>
                  </a:lnTo>
                  <a:lnTo>
                    <a:pt x="0" y="2604008"/>
                  </a:lnTo>
                  <a:lnTo>
                    <a:pt x="0" y="0"/>
                  </a:lnTo>
                  <a:close/>
                </a:path>
              </a:pathLst>
            </a:custGeom>
            <a:blipFill>
              <a:blip r:embed="rId6"/>
              <a:stretch>
                <a:fillRect l="0" t="0" r="0" b="2"/>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358558" y="0"/>
            <a:ext cx="2929442" cy="1952958"/>
            <a:chOff x="0" y="0"/>
            <a:chExt cx="3905923" cy="2603944"/>
          </a:xfrm>
        </p:grpSpPr>
        <p:sp>
          <p:nvSpPr>
            <p:cNvPr name="Freeform 3" id="3"/>
            <p:cNvSpPr/>
            <p:nvPr/>
          </p:nvSpPr>
          <p:spPr>
            <a:xfrm flipH="false" flipV="false" rot="0">
              <a:off x="0" y="0"/>
              <a:ext cx="3905885" cy="2604008"/>
            </a:xfrm>
            <a:custGeom>
              <a:avLst/>
              <a:gdLst/>
              <a:ahLst/>
              <a:cxnLst/>
              <a:rect r="r" b="b" t="t" l="l"/>
              <a:pathLst>
                <a:path h="2604008" w="3905885">
                  <a:moveTo>
                    <a:pt x="0" y="0"/>
                  </a:moveTo>
                  <a:lnTo>
                    <a:pt x="3905885" y="0"/>
                  </a:lnTo>
                  <a:lnTo>
                    <a:pt x="3905885" y="2604008"/>
                  </a:lnTo>
                  <a:lnTo>
                    <a:pt x="0" y="2604008"/>
                  </a:lnTo>
                  <a:lnTo>
                    <a:pt x="0" y="0"/>
                  </a:lnTo>
                  <a:close/>
                </a:path>
              </a:pathLst>
            </a:custGeom>
            <a:blipFill>
              <a:blip r:embed="rId2"/>
              <a:stretch>
                <a:fillRect l="0" t="0" r="0" b="2"/>
              </a:stretch>
            </a:blipFill>
          </p:spPr>
        </p:sp>
      </p:grpSp>
      <p:grpSp>
        <p:nvGrpSpPr>
          <p:cNvPr name="Group 4" id="4"/>
          <p:cNvGrpSpPr/>
          <p:nvPr/>
        </p:nvGrpSpPr>
        <p:grpSpPr>
          <a:xfrm rot="0">
            <a:off x="1513084" y="641032"/>
            <a:ext cx="13339448" cy="9368180"/>
            <a:chOff x="0" y="0"/>
            <a:chExt cx="17785931" cy="12490907"/>
          </a:xfrm>
        </p:grpSpPr>
        <p:sp>
          <p:nvSpPr>
            <p:cNvPr name="Freeform 5" id="5"/>
            <p:cNvSpPr/>
            <p:nvPr/>
          </p:nvSpPr>
          <p:spPr>
            <a:xfrm flipH="false" flipV="false" rot="0">
              <a:off x="0" y="0"/>
              <a:ext cx="17785969" cy="12490958"/>
            </a:xfrm>
            <a:custGeom>
              <a:avLst/>
              <a:gdLst/>
              <a:ahLst/>
              <a:cxnLst/>
              <a:rect r="r" b="b" t="t" l="l"/>
              <a:pathLst>
                <a:path h="12490958" w="17785969">
                  <a:moveTo>
                    <a:pt x="0" y="0"/>
                  </a:moveTo>
                  <a:lnTo>
                    <a:pt x="17785969" y="0"/>
                  </a:lnTo>
                  <a:lnTo>
                    <a:pt x="17785969" y="12490958"/>
                  </a:lnTo>
                  <a:lnTo>
                    <a:pt x="0" y="12490958"/>
                  </a:lnTo>
                  <a:lnTo>
                    <a:pt x="0" y="0"/>
                  </a:lnTo>
                  <a:close/>
                </a:path>
              </a:pathLst>
            </a:custGeom>
            <a:blipFill>
              <a:blip r:embed="rId3"/>
              <a:stretch>
                <a:fillRect l="-2671" t="0" r="-2671"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358558" y="0"/>
            <a:ext cx="2929442" cy="1952958"/>
            <a:chOff x="0" y="0"/>
            <a:chExt cx="3905923" cy="2603944"/>
          </a:xfrm>
        </p:grpSpPr>
        <p:sp>
          <p:nvSpPr>
            <p:cNvPr name="Freeform 3" id="3"/>
            <p:cNvSpPr/>
            <p:nvPr/>
          </p:nvSpPr>
          <p:spPr>
            <a:xfrm flipH="false" flipV="false" rot="0">
              <a:off x="0" y="0"/>
              <a:ext cx="3905885" cy="2604008"/>
            </a:xfrm>
            <a:custGeom>
              <a:avLst/>
              <a:gdLst/>
              <a:ahLst/>
              <a:cxnLst/>
              <a:rect r="r" b="b" t="t" l="l"/>
              <a:pathLst>
                <a:path h="2604008" w="3905885">
                  <a:moveTo>
                    <a:pt x="0" y="0"/>
                  </a:moveTo>
                  <a:lnTo>
                    <a:pt x="3905885" y="0"/>
                  </a:lnTo>
                  <a:lnTo>
                    <a:pt x="3905885" y="2604008"/>
                  </a:lnTo>
                  <a:lnTo>
                    <a:pt x="0" y="2604008"/>
                  </a:lnTo>
                  <a:lnTo>
                    <a:pt x="0" y="0"/>
                  </a:lnTo>
                  <a:close/>
                </a:path>
              </a:pathLst>
            </a:custGeom>
            <a:blipFill>
              <a:blip r:embed="rId2"/>
              <a:stretch>
                <a:fillRect l="0" t="0" r="0" b="2"/>
              </a:stretch>
            </a:blipFill>
          </p:spPr>
        </p:sp>
      </p:grpSp>
      <p:grpSp>
        <p:nvGrpSpPr>
          <p:cNvPr name="Group 4" id="4"/>
          <p:cNvGrpSpPr/>
          <p:nvPr/>
        </p:nvGrpSpPr>
        <p:grpSpPr>
          <a:xfrm rot="0">
            <a:off x="12708474" y="3424095"/>
            <a:ext cx="4114800" cy="4114800"/>
            <a:chOff x="0" y="0"/>
            <a:chExt cx="5486400" cy="5486400"/>
          </a:xfrm>
        </p:grpSpPr>
        <p:sp>
          <p:nvSpPr>
            <p:cNvPr name="Freeform 5" id="5"/>
            <p:cNvSpPr/>
            <p:nvPr/>
          </p:nvSpPr>
          <p:spPr>
            <a:xfrm flipH="false" flipV="false" rot="0">
              <a:off x="0" y="0"/>
              <a:ext cx="5486400" cy="5486400"/>
            </a:xfrm>
            <a:custGeom>
              <a:avLst/>
              <a:gdLst/>
              <a:ahLst/>
              <a:cxnLst/>
              <a:rect r="r" b="b" t="t" l="l"/>
              <a:pathLst>
                <a:path h="5486400" w="5486400">
                  <a:moveTo>
                    <a:pt x="0" y="0"/>
                  </a:moveTo>
                  <a:lnTo>
                    <a:pt x="5486400" y="0"/>
                  </a:lnTo>
                  <a:lnTo>
                    <a:pt x="5486400" y="5486400"/>
                  </a:lnTo>
                  <a:lnTo>
                    <a:pt x="0" y="5486400"/>
                  </a:lnTo>
                  <a:lnTo>
                    <a:pt x="0" y="0"/>
                  </a:lnTo>
                  <a:close/>
                </a:path>
              </a:pathLst>
            </a:custGeom>
            <a:solidFill>
              <a:srgbClr val="00C4CC"/>
            </a:solidFill>
          </p:spPr>
        </p:sp>
      </p:grpSp>
      <p:sp>
        <p:nvSpPr>
          <p:cNvPr name="TextBox 6" id="6"/>
          <p:cNvSpPr txBox="true"/>
          <p:nvPr/>
        </p:nvSpPr>
        <p:spPr>
          <a:xfrm rot="0">
            <a:off x="608038" y="162306"/>
            <a:ext cx="15429395" cy="1200150"/>
          </a:xfrm>
          <a:prstGeom prst="rect">
            <a:avLst/>
          </a:prstGeom>
        </p:spPr>
        <p:txBody>
          <a:bodyPr anchor="t" rtlCol="false" tIns="0" lIns="0" bIns="0" rIns="0">
            <a:spAutoFit/>
          </a:bodyPr>
          <a:lstStyle/>
          <a:p>
            <a:pPr algn="l">
              <a:lnSpc>
                <a:spcPts val="9150"/>
              </a:lnSpc>
            </a:pPr>
            <a:r>
              <a:rPr lang="en-US" sz="7500">
                <a:solidFill>
                  <a:srgbClr val="582B0E"/>
                </a:solidFill>
                <a:latin typeface="Raleway"/>
                <a:ea typeface="Raleway"/>
                <a:cs typeface="Raleway"/>
                <a:sym typeface="Raleway"/>
              </a:rPr>
              <a:t>Non- Functional Requirements </a:t>
            </a:r>
          </a:p>
        </p:txBody>
      </p:sp>
      <p:sp>
        <p:nvSpPr>
          <p:cNvPr name="TextBox 7" id="7"/>
          <p:cNvSpPr txBox="true"/>
          <p:nvPr/>
        </p:nvSpPr>
        <p:spPr>
          <a:xfrm rot="0">
            <a:off x="1028700" y="1819608"/>
            <a:ext cx="10601554" cy="6457007"/>
          </a:xfrm>
          <a:prstGeom prst="rect">
            <a:avLst/>
          </a:prstGeom>
        </p:spPr>
        <p:txBody>
          <a:bodyPr anchor="t" rtlCol="false" tIns="0" lIns="0" bIns="0" rIns="0">
            <a:spAutoFit/>
          </a:bodyPr>
          <a:lstStyle/>
          <a:p>
            <a:pPr algn="l">
              <a:lnSpc>
                <a:spcPts val="4252"/>
              </a:lnSpc>
            </a:pPr>
          </a:p>
          <a:p>
            <a:pPr algn="l" marL="694285" indent="-231428" lvl="2">
              <a:lnSpc>
                <a:spcPts val="4252"/>
              </a:lnSpc>
              <a:buFont typeface="Arial"/>
              <a:buChar char="⚬"/>
            </a:pPr>
            <a:r>
              <a:rPr lang="en-US" sz="3036">
                <a:solidFill>
                  <a:srgbClr val="000000"/>
                </a:solidFill>
                <a:latin typeface="Raleway"/>
                <a:ea typeface="Raleway"/>
                <a:cs typeface="Raleway"/>
                <a:sym typeface="Raleway"/>
              </a:rPr>
              <a:t>Performance: core actions (sale entry, inventory update) respond in under 2 seconds</a:t>
            </a:r>
          </a:p>
          <a:p>
            <a:pPr algn="l" marL="694285" indent="-231428" lvl="2">
              <a:lnSpc>
                <a:spcPts val="4252"/>
              </a:lnSpc>
              <a:buFont typeface="Arial"/>
              <a:buChar char="⚬"/>
            </a:pPr>
            <a:r>
              <a:rPr lang="en-US" sz="3036">
                <a:solidFill>
                  <a:srgbClr val="000000"/>
                </a:solidFill>
                <a:latin typeface="Raleway"/>
                <a:ea typeface="Raleway"/>
                <a:cs typeface="Raleway"/>
                <a:sym typeface="Raleway"/>
              </a:rPr>
              <a:t>Usability: interface usable by merchants with minimal digital literacy, in the local language</a:t>
            </a:r>
          </a:p>
          <a:p>
            <a:pPr algn="l" marL="694285" indent="-231428" lvl="2">
              <a:lnSpc>
                <a:spcPts val="4252"/>
              </a:lnSpc>
              <a:buFont typeface="Arial"/>
              <a:buChar char="⚬"/>
            </a:pPr>
            <a:r>
              <a:rPr lang="en-US" sz="3036">
                <a:solidFill>
                  <a:srgbClr val="000000"/>
                </a:solidFill>
                <a:latin typeface="Raleway"/>
                <a:ea typeface="Raleway"/>
                <a:cs typeface="Raleway"/>
                <a:sym typeface="Raleway"/>
              </a:rPr>
              <a:t>Security: encrypted local storage; authenticated access via Supabase Auth</a:t>
            </a:r>
          </a:p>
          <a:p>
            <a:pPr algn="l" marL="694285" indent="-231428" lvl="2">
              <a:lnSpc>
                <a:spcPts val="4252"/>
              </a:lnSpc>
              <a:buFont typeface="Arial"/>
              <a:buChar char="⚬"/>
            </a:pPr>
            <a:r>
              <a:rPr lang="en-US" sz="3036">
                <a:solidFill>
                  <a:srgbClr val="000000"/>
                </a:solidFill>
                <a:latin typeface="Raleway"/>
                <a:ea typeface="Raleway"/>
                <a:cs typeface="Raleway"/>
                <a:sym typeface="Raleway"/>
              </a:rPr>
              <a:t>Availability: full core functionality (sales, inventory, ledger) usable fully offline</a:t>
            </a:r>
          </a:p>
          <a:p>
            <a:pPr algn="l" marL="694285" indent="-231428" lvl="2">
              <a:lnSpc>
                <a:spcPts val="4252"/>
              </a:lnSpc>
              <a:buFont typeface="Arial"/>
              <a:buChar char="⚬"/>
            </a:pPr>
            <a:r>
              <a:rPr lang="en-US" sz="3036">
                <a:solidFill>
                  <a:srgbClr val="000000"/>
                </a:solidFill>
                <a:latin typeface="Raleway"/>
                <a:ea typeface="Raleway"/>
                <a:cs typeface="Raleway"/>
                <a:sym typeface="Raleway"/>
              </a:rPr>
              <a:t>Scalability: modular backend structure supports multi-shop/franchise expansion</a:t>
            </a:r>
          </a:p>
          <a:p>
            <a:pPr algn="l" marL="694285" indent="-231428" lvl="2">
              <a:lnSpc>
                <a:spcPts val="4252"/>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3253" y="400841"/>
            <a:ext cx="16862793" cy="9485319"/>
            <a:chOff x="0" y="0"/>
            <a:chExt cx="22483724" cy="12647092"/>
          </a:xfrm>
        </p:grpSpPr>
        <p:sp>
          <p:nvSpPr>
            <p:cNvPr name="Freeform 3" id="3"/>
            <p:cNvSpPr/>
            <p:nvPr/>
          </p:nvSpPr>
          <p:spPr>
            <a:xfrm flipH="false" flipV="false" rot="0">
              <a:off x="0" y="0"/>
              <a:ext cx="22483699" cy="12647041"/>
            </a:xfrm>
            <a:custGeom>
              <a:avLst/>
              <a:gdLst/>
              <a:ahLst/>
              <a:cxnLst/>
              <a:rect r="r" b="b" t="t" l="l"/>
              <a:pathLst>
                <a:path h="12647041" w="22483699">
                  <a:moveTo>
                    <a:pt x="0" y="0"/>
                  </a:moveTo>
                  <a:lnTo>
                    <a:pt x="22483699" y="0"/>
                  </a:lnTo>
                  <a:lnTo>
                    <a:pt x="22483699" y="12647041"/>
                  </a:lnTo>
                  <a:lnTo>
                    <a:pt x="0" y="12647041"/>
                  </a:lnTo>
                  <a:lnTo>
                    <a:pt x="0" y="0"/>
                  </a:lnTo>
                  <a:close/>
                </a:path>
              </a:pathLst>
            </a:custGeom>
            <a:blipFill>
              <a:blip r:embed="rId2"/>
              <a:stretch>
                <a:fillRect l="0" t="0" r="0" b="0"/>
              </a:stretch>
            </a:blipFill>
          </p:spPr>
        </p:sp>
      </p:grpSp>
      <p:grpSp>
        <p:nvGrpSpPr>
          <p:cNvPr name="Group 4" id="4"/>
          <p:cNvGrpSpPr/>
          <p:nvPr/>
        </p:nvGrpSpPr>
        <p:grpSpPr>
          <a:xfrm rot="0">
            <a:off x="15500480" y="0"/>
            <a:ext cx="2787520" cy="1858347"/>
            <a:chOff x="0" y="0"/>
            <a:chExt cx="3716693" cy="2477795"/>
          </a:xfrm>
        </p:grpSpPr>
        <p:sp>
          <p:nvSpPr>
            <p:cNvPr name="Freeform 5" id="5"/>
            <p:cNvSpPr/>
            <p:nvPr/>
          </p:nvSpPr>
          <p:spPr>
            <a:xfrm flipH="false" flipV="false" rot="0">
              <a:off x="0" y="0"/>
              <a:ext cx="3716655" cy="2477770"/>
            </a:xfrm>
            <a:custGeom>
              <a:avLst/>
              <a:gdLst/>
              <a:ahLst/>
              <a:cxnLst/>
              <a:rect r="r" b="b" t="t" l="l"/>
              <a:pathLst>
                <a:path h="2477770" w="3716655">
                  <a:moveTo>
                    <a:pt x="0" y="0"/>
                  </a:moveTo>
                  <a:lnTo>
                    <a:pt x="3716655" y="0"/>
                  </a:lnTo>
                  <a:lnTo>
                    <a:pt x="3716655" y="2477770"/>
                  </a:lnTo>
                  <a:lnTo>
                    <a:pt x="0" y="2477770"/>
                  </a:lnTo>
                  <a:lnTo>
                    <a:pt x="0" y="0"/>
                  </a:lnTo>
                  <a:close/>
                </a:path>
              </a:pathLst>
            </a:custGeom>
            <a:blipFill>
              <a:blip r:embed="rId3"/>
              <a:stretch>
                <a:fillRect l="0" t="0" r="-1" b="-1"/>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358558" y="0"/>
            <a:ext cx="2929442" cy="1952958"/>
            <a:chOff x="0" y="0"/>
            <a:chExt cx="3905923" cy="2603944"/>
          </a:xfrm>
        </p:grpSpPr>
        <p:sp>
          <p:nvSpPr>
            <p:cNvPr name="Freeform 3" id="3"/>
            <p:cNvSpPr/>
            <p:nvPr/>
          </p:nvSpPr>
          <p:spPr>
            <a:xfrm flipH="false" flipV="false" rot="0">
              <a:off x="0" y="0"/>
              <a:ext cx="3905885" cy="2604008"/>
            </a:xfrm>
            <a:custGeom>
              <a:avLst/>
              <a:gdLst/>
              <a:ahLst/>
              <a:cxnLst/>
              <a:rect r="r" b="b" t="t" l="l"/>
              <a:pathLst>
                <a:path h="2604008" w="3905885">
                  <a:moveTo>
                    <a:pt x="0" y="0"/>
                  </a:moveTo>
                  <a:lnTo>
                    <a:pt x="3905885" y="0"/>
                  </a:lnTo>
                  <a:lnTo>
                    <a:pt x="3905885" y="2604008"/>
                  </a:lnTo>
                  <a:lnTo>
                    <a:pt x="0" y="2604008"/>
                  </a:lnTo>
                  <a:lnTo>
                    <a:pt x="0" y="0"/>
                  </a:lnTo>
                  <a:close/>
                </a:path>
              </a:pathLst>
            </a:custGeom>
            <a:blipFill>
              <a:blip r:embed="rId2"/>
              <a:stretch>
                <a:fillRect l="0" t="0" r="0" b="2"/>
              </a:stretch>
            </a:blipFill>
          </p:spPr>
        </p:sp>
      </p:grpSp>
      <p:sp>
        <p:nvSpPr>
          <p:cNvPr name="TextBox 4" id="4"/>
          <p:cNvSpPr txBox="true"/>
          <p:nvPr/>
        </p:nvSpPr>
        <p:spPr>
          <a:xfrm rot="0">
            <a:off x="5164531" y="4187676"/>
            <a:ext cx="9195664" cy="1200150"/>
          </a:xfrm>
          <a:prstGeom prst="rect">
            <a:avLst/>
          </a:prstGeom>
        </p:spPr>
        <p:txBody>
          <a:bodyPr anchor="t" rtlCol="false" tIns="0" lIns="0" bIns="0" rIns="0">
            <a:spAutoFit/>
          </a:bodyPr>
          <a:lstStyle/>
          <a:p>
            <a:pPr algn="l">
              <a:lnSpc>
                <a:spcPts val="9150"/>
              </a:lnSpc>
            </a:pPr>
            <a:r>
              <a:rPr lang="en-US" sz="7500">
                <a:solidFill>
                  <a:srgbClr val="582B0E"/>
                </a:solidFill>
                <a:latin typeface="Raleway"/>
                <a:ea typeface="Raleway"/>
                <a:cs typeface="Raleway"/>
                <a:sym typeface="Raleway"/>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DAHT7uWBNmM</dc:identifier>
  <dcterms:modified xsi:type="dcterms:W3CDTF">2011-08-01T06:04:30Z</dcterms:modified>
  <cp:revision>1</cp:revision>
  <dc:title>Copy of Brown and Red Minimalist Modern Project Report Presentation  (2).pptx</dc:title>
</cp:coreProperties>
</file>